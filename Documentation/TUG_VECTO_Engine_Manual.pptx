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497" r:id="rId2"/>
    <p:sldId id="546" r:id="rId3"/>
    <p:sldId id="591" r:id="rId4"/>
    <p:sldId id="585" r:id="rId5"/>
    <p:sldId id="578" r:id="rId6"/>
    <p:sldId id="579" r:id="rId7"/>
    <p:sldId id="580" r:id="rId8"/>
    <p:sldId id="589" r:id="rId9"/>
    <p:sldId id="590" r:id="rId10"/>
    <p:sldId id="582" r:id="rId11"/>
  </p:sldIdLst>
  <p:sldSz cx="9144000" cy="6858000" type="screen4x3"/>
  <p:notesSz cx="7104063" cy="10234613"/>
  <p:defaultTextStyle>
    <a:defPPr>
      <a:defRPr lang="de-AT"/>
    </a:defPPr>
    <a:lvl1pPr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Hausberger Stefan" initials="HS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CC"/>
    <a:srgbClr val="00DAB0"/>
    <a:srgbClr val="00FFCC"/>
    <a:srgbClr val="CCFF99"/>
    <a:srgbClr val="33CCFF"/>
    <a:srgbClr val="99FF99"/>
    <a:srgbClr val="FFCCCC"/>
    <a:srgbClr val="9900FF"/>
    <a:srgbClr val="00CC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Designformatvorlage 1 - Akz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87" autoAdjust="0"/>
    <p:restoredTop sz="90178" autoAdjust="0"/>
  </p:normalViewPr>
  <p:slideViewPr>
    <p:cSldViewPr>
      <p:cViewPr varScale="1">
        <p:scale>
          <a:sx n="76" d="100"/>
          <a:sy n="76" d="100"/>
        </p:scale>
        <p:origin x="171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185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fld id="{D05DC883-6C08-43D1-9D4B-869193C2D549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769111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l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313" y="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3775" y="768350"/>
            <a:ext cx="51165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4837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AT" noProof="0" smtClean="0"/>
              <a:t>Textmasterformate durch Klicken bearbeiten</a:t>
            </a:r>
          </a:p>
          <a:p>
            <a:pPr lvl="1"/>
            <a:r>
              <a:rPr lang="de-AT" noProof="0" smtClean="0"/>
              <a:t>Zweite Ebene</a:t>
            </a:r>
          </a:p>
          <a:p>
            <a:pPr lvl="2"/>
            <a:r>
              <a:rPr lang="de-AT" noProof="0" smtClean="0"/>
              <a:t>Dritte Ebene</a:t>
            </a:r>
          </a:p>
          <a:p>
            <a:pPr lvl="3"/>
            <a:r>
              <a:rPr lang="de-AT" noProof="0" smtClean="0"/>
              <a:t>Vierte Ebene</a:t>
            </a:r>
          </a:p>
          <a:p>
            <a:pPr lvl="4"/>
            <a:r>
              <a:rPr lang="de-AT" noProof="0" smtClean="0"/>
              <a:t>Fünfte Ebene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l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313" y="972185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fld id="{8335CF79-0E4B-49EE-B3D5-651E591A0B8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7040662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65558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0961ED-B8B5-4C64-9727-6F12A830C91B}" type="slidenum">
              <a:rPr lang="en-GB" altLang="en-US" smtClean="0"/>
              <a:pPr/>
              <a:t>4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1960984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691659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Example for warnings:</a:t>
            </a:r>
          </a:p>
          <a:p>
            <a:r>
              <a:rPr lang="en-US" smtClean="0"/>
              <a:t>Significant drop</a:t>
            </a:r>
            <a:r>
              <a:rPr lang="en-US" baseline="0" smtClean="0"/>
              <a:t> of torque in fld recording (might be not reasonable at low speeds, might be reasonable at n&gt;hi) </a:t>
            </a:r>
            <a:endParaRPr lang="en-US" dirty="0" smtClean="0"/>
          </a:p>
          <a:p>
            <a:endParaRPr lang="en-US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0961ED-B8B5-4C64-9727-6F12A830C91B}" type="slidenum">
              <a:rPr lang="en-GB" altLang="en-US" smtClean="0"/>
              <a:pPr/>
              <a:t>9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05255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57079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1252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95738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68313" y="1582738"/>
            <a:ext cx="4032250" cy="4543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52963" y="1582738"/>
            <a:ext cx="4033837" cy="4543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265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89680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8582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36204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6046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AT" noProof="0" smtClean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44828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319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32575" y="714375"/>
            <a:ext cx="2054225" cy="541178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68313" y="714375"/>
            <a:ext cx="6011862" cy="5411788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266897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468313" y="714375"/>
            <a:ext cx="8218487" cy="5411788"/>
          </a:xfr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60228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313" y="714375"/>
            <a:ext cx="8218487" cy="681038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468313" y="1582738"/>
            <a:ext cx="8218487" cy="4543425"/>
          </a:xfrm>
        </p:spPr>
        <p:txBody>
          <a:bodyPr/>
          <a:lstStyle/>
          <a:p>
            <a:pPr lvl="0"/>
            <a:endParaRPr lang="de-AT" noProof="0" smtClean="0"/>
          </a:p>
        </p:txBody>
      </p:sp>
    </p:spTree>
    <p:extLst>
      <p:ext uri="{BB962C8B-B14F-4D97-AF65-F5344CB8AC3E}">
        <p14:creationId xmlns:p14="http://schemas.microsoft.com/office/powerpoint/2010/main" val="3658998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95423"/>
            <a:ext cx="8218487" cy="681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DDDDDD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de-DE" dirty="0" smtClean="0"/>
          </a:p>
        </p:txBody>
      </p:sp>
      <p:sp>
        <p:nvSpPr>
          <p:cNvPr id="1029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582738"/>
            <a:ext cx="8218487" cy="454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DDDDDD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AT" smtClean="0"/>
              <a:t>Erste Ebene</a:t>
            </a:r>
          </a:p>
          <a:p>
            <a:pPr lvl="1"/>
            <a:r>
              <a:rPr lang="de-AT" smtClean="0"/>
              <a:t>Zweite Ebene</a:t>
            </a:r>
          </a:p>
          <a:p>
            <a:pPr lvl="2"/>
            <a:r>
              <a:rPr lang="de-AT" smtClean="0"/>
              <a:t>Dritte Ebene</a:t>
            </a:r>
          </a:p>
          <a:p>
            <a:pPr lvl="3"/>
            <a:r>
              <a:rPr lang="de-AT" smtClean="0"/>
              <a:t>Vierte Ebene</a:t>
            </a:r>
          </a:p>
          <a:p>
            <a:pPr lvl="4"/>
            <a:r>
              <a:rPr lang="de-AT" smtClean="0"/>
              <a:t>Fünfte Ebene</a:t>
            </a:r>
          </a:p>
        </p:txBody>
      </p:sp>
      <p:sp>
        <p:nvSpPr>
          <p:cNvPr id="1030" name="Text Box 24"/>
          <p:cNvSpPr txBox="1">
            <a:spLocks noChangeArrowheads="1"/>
          </p:cNvSpPr>
          <p:nvPr/>
        </p:nvSpPr>
        <p:spPr bwMode="auto">
          <a:xfrm>
            <a:off x="7996238" y="6599238"/>
            <a:ext cx="925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F754889F-290A-4ED1-8905-D84A8ECF4D9C}" type="slidenum">
              <a:rPr lang="de-AT" sz="1000" smtClean="0">
                <a:solidFill>
                  <a:srgbClr val="7D7D7D"/>
                </a:solidFill>
                <a:latin typeface="Verdana" pitchFamily="34" charset="0"/>
              </a:rPr>
              <a:pPr algn="r" eaLnBrk="1" hangingPunct="1">
                <a:spcBef>
                  <a:spcPct val="50000"/>
                </a:spcBef>
                <a:defRPr/>
              </a:pPr>
              <a:t>‹Nr.›</a:t>
            </a:fld>
            <a:endParaRPr lang="de-AT" sz="1000" smtClean="0">
              <a:solidFill>
                <a:srgbClr val="7D7D7D"/>
              </a:solidFill>
              <a:latin typeface="Verdana" pitchFamily="34" charset="0"/>
            </a:endParaRPr>
          </a:p>
        </p:txBody>
      </p:sp>
      <p:sp>
        <p:nvSpPr>
          <p:cNvPr id="1031" name="Rectangle 25"/>
          <p:cNvSpPr>
            <a:spLocks noChangeArrowheads="1"/>
          </p:cNvSpPr>
          <p:nvPr/>
        </p:nvSpPr>
        <p:spPr bwMode="auto">
          <a:xfrm>
            <a:off x="0" y="6373813"/>
            <a:ext cx="9144000" cy="215900"/>
          </a:xfrm>
          <a:prstGeom prst="rect">
            <a:avLst/>
          </a:prstGeom>
          <a:solidFill>
            <a:srgbClr val="DDDDDD"/>
          </a:solidFill>
          <a:ln w="6350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tIns="39600" anchor="ctr"/>
          <a:lstStyle/>
          <a:p>
            <a:pPr algn="l">
              <a:spcBef>
                <a:spcPct val="0"/>
              </a:spcBef>
            </a:pPr>
            <a:endParaRPr lang="en-GB" sz="1200">
              <a:latin typeface="Verdana" pitchFamily="34" charset="0"/>
            </a:endParaRPr>
          </a:p>
        </p:txBody>
      </p:sp>
      <p:sp>
        <p:nvSpPr>
          <p:cNvPr id="1037" name="Text Box 31"/>
          <p:cNvSpPr txBox="1">
            <a:spLocks noChangeArrowheads="1"/>
          </p:cNvSpPr>
          <p:nvPr/>
        </p:nvSpPr>
        <p:spPr bwMode="auto">
          <a:xfrm>
            <a:off x="5940425" y="6373813"/>
            <a:ext cx="2895600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tIns="39600" anchor="ctr"/>
          <a:lstStyle>
            <a:lvl1pPr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en-GB" sz="1100" b="0" dirty="0" smtClean="0">
                <a:latin typeface="Verdana" pitchFamily="34" charset="0"/>
              </a:rPr>
              <a:t>HDV CO</a:t>
            </a:r>
            <a:r>
              <a:rPr lang="en-GB" sz="1100" b="0" baseline="-25000" dirty="0" smtClean="0">
                <a:latin typeface="Verdana" pitchFamily="34" charset="0"/>
              </a:rPr>
              <a:t>2</a:t>
            </a:r>
            <a:r>
              <a:rPr lang="en-GB" sz="1100" b="0" dirty="0" smtClean="0">
                <a:latin typeface="Verdana" pitchFamily="34" charset="0"/>
              </a:rPr>
              <a:t> test procedure – VECTO Engine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288" y="89807"/>
            <a:ext cx="1979712" cy="49163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iming>
    <p:tnLst>
      <p:par>
        <p:cTn id="1" dur="indefinite" restart="never" nodeType="tmRoot"/>
      </p:par>
    </p:tnLst>
  </p:timing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2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2" y="1124744"/>
            <a:ext cx="8640960" cy="792088"/>
          </a:xfrm>
        </p:spPr>
        <p:txBody>
          <a:bodyPr/>
          <a:lstStyle/>
          <a:p>
            <a:pPr algn="ctr"/>
            <a:r>
              <a:rPr lang="en-US" sz="2800" dirty="0"/>
              <a:t>VECTO Engine pre-processing tool</a:t>
            </a:r>
            <a:r>
              <a:rPr lang="en-US" sz="2800" dirty="0" smtClean="0"/>
              <a:t/>
            </a:r>
            <a:br>
              <a:rPr lang="en-US" sz="2800" dirty="0" smtClean="0"/>
            </a:br>
            <a:r>
              <a:rPr lang="en-US" sz="2800" dirty="0" smtClean="0"/>
              <a:t/>
            </a:r>
            <a:br>
              <a:rPr lang="en-US" sz="2800" dirty="0" smtClean="0"/>
            </a:br>
            <a:r>
              <a:rPr lang="en-US" sz="2800" dirty="0" smtClean="0"/>
              <a:t>Short documentation and user manual</a:t>
            </a:r>
            <a:endParaRPr lang="en-US" sz="2800" dirty="0"/>
          </a:p>
        </p:txBody>
      </p:sp>
      <p:sp>
        <p:nvSpPr>
          <p:cNvPr id="4" name="Rechteck 3"/>
          <p:cNvSpPr/>
          <p:nvPr/>
        </p:nvSpPr>
        <p:spPr>
          <a:xfrm>
            <a:off x="323528" y="2420888"/>
            <a:ext cx="8280920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 smtClean="0">
                <a:sym typeface="Wingdings" panose="05000000000000000000" pitchFamily="2" charset="2"/>
              </a:rPr>
              <a:t>App Version 1.5.*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1800" dirty="0" smtClean="0">
                <a:sym typeface="Wingdings" panose="05000000000000000000" pitchFamily="2" charset="2"/>
              </a:rPr>
              <a:t>01.06.2022</a:t>
            </a:r>
            <a:endParaRPr lang="en-US" sz="1800" dirty="0" smtClean="0">
              <a:sym typeface="Wingdings" panose="05000000000000000000" pitchFamily="2" charset="2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4608" y="3831328"/>
            <a:ext cx="3798831" cy="1973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45516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/>
              <a:t>VECTO Engine – GUI overview</a:t>
            </a:r>
          </a:p>
        </p:txBody>
      </p:sp>
      <p:grpSp>
        <p:nvGrpSpPr>
          <p:cNvPr id="27" name="Gruppieren 26"/>
          <p:cNvGrpSpPr/>
          <p:nvPr/>
        </p:nvGrpSpPr>
        <p:grpSpPr>
          <a:xfrm>
            <a:off x="179626" y="1051826"/>
            <a:ext cx="5492123" cy="5306426"/>
            <a:chOff x="179626" y="1051826"/>
            <a:chExt cx="5492123" cy="5306426"/>
          </a:xfrm>
        </p:grpSpPr>
        <p:pic>
          <p:nvPicPr>
            <p:cNvPr id="29" name="Grafik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626" y="1051826"/>
              <a:ext cx="5492123" cy="5306426"/>
            </a:xfrm>
            <a:prstGeom prst="rect">
              <a:avLst/>
            </a:prstGeom>
          </p:spPr>
        </p:pic>
        <p:pic>
          <p:nvPicPr>
            <p:cNvPr id="30" name="Grafik 29"/>
            <p:cNvPicPr>
              <a:picLocks noChangeAspect="1"/>
            </p:cNvPicPr>
            <p:nvPr/>
          </p:nvPicPr>
          <p:blipFill rotWithShape="1">
            <a:blip r:embed="rId4"/>
            <a:srcRect l="74732" t="81437"/>
            <a:stretch/>
          </p:blipFill>
          <p:spPr>
            <a:xfrm>
              <a:off x="4283995" y="5373216"/>
              <a:ext cx="1387754" cy="985010"/>
            </a:xfrm>
            <a:prstGeom prst="rect">
              <a:avLst/>
            </a:prstGeom>
          </p:spPr>
        </p:pic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4"/>
            <a:srcRect l="74732" b="67415"/>
            <a:stretch/>
          </p:blipFill>
          <p:spPr>
            <a:xfrm>
              <a:off x="4283968" y="1051826"/>
              <a:ext cx="1387754" cy="1729102"/>
            </a:xfrm>
            <a:prstGeom prst="rect">
              <a:avLst/>
            </a:prstGeom>
          </p:spPr>
        </p:pic>
      </p:grpSp>
      <p:sp>
        <p:nvSpPr>
          <p:cNvPr id="32" name="Rechteck 31"/>
          <p:cNvSpPr/>
          <p:nvPr/>
        </p:nvSpPr>
        <p:spPr bwMode="auto">
          <a:xfrm>
            <a:off x="255788" y="1365332"/>
            <a:ext cx="5316466" cy="180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3" name="Rechteck 32"/>
          <p:cNvSpPr/>
          <p:nvPr/>
        </p:nvSpPr>
        <p:spPr bwMode="auto">
          <a:xfrm>
            <a:off x="255788" y="5389954"/>
            <a:ext cx="5316466" cy="864000"/>
          </a:xfrm>
          <a:prstGeom prst="rect">
            <a:avLst/>
          </a:prstGeom>
          <a:solidFill>
            <a:srgbClr val="7030A0">
              <a:alpha val="15000"/>
            </a:srgbClr>
          </a:solidFill>
          <a:ln w="25400" cap="flat" cmpd="sng" algn="ctr">
            <a:solidFill>
              <a:srgbClr val="7030A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4" name="Rechteck 33"/>
          <p:cNvSpPr/>
          <p:nvPr/>
        </p:nvSpPr>
        <p:spPr bwMode="auto">
          <a:xfrm>
            <a:off x="255788" y="1620487"/>
            <a:ext cx="5316466" cy="756000"/>
          </a:xfrm>
          <a:prstGeom prst="rect">
            <a:avLst/>
          </a:prstGeom>
          <a:solidFill>
            <a:srgbClr val="FFC000">
              <a:alpha val="15000"/>
            </a:srgbClr>
          </a:solidFill>
          <a:ln w="254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5" name="Rechteck 34"/>
          <p:cNvSpPr/>
          <p:nvPr/>
        </p:nvSpPr>
        <p:spPr bwMode="auto">
          <a:xfrm>
            <a:off x="255788" y="4830404"/>
            <a:ext cx="5316466" cy="252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6" name="Legende mit Linie 1 (Markierungsleiste) 20"/>
          <p:cNvSpPr/>
          <p:nvPr/>
        </p:nvSpPr>
        <p:spPr bwMode="auto">
          <a:xfrm>
            <a:off x="6660232" y="1014714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64670"/>
              <a:gd name="adj4" fmla="val -43174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Job-file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Displays </a:t>
            </a:r>
            <a:r>
              <a:rPr lang="de-AT" sz="1100" b="0" dirty="0" err="1" smtClean="0">
                <a:latin typeface="Arial" pitchFamily="34" charset="0"/>
              </a:rPr>
              <a:t>path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and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filename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of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job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Open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and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save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job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file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7" name="Legende mit Linie 1 (Markierungsleiste) 20"/>
          <p:cNvSpPr/>
          <p:nvPr/>
        </p:nvSpPr>
        <p:spPr bwMode="auto">
          <a:xfrm>
            <a:off x="6660232" y="1818816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26763"/>
              <a:gd name="adj4" fmla="val -42840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Component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Fields 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component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information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Checkboxes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for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technologic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features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8" name="Rechteck 37"/>
          <p:cNvSpPr/>
          <p:nvPr/>
        </p:nvSpPr>
        <p:spPr bwMode="auto">
          <a:xfrm>
            <a:off x="255788" y="2467440"/>
            <a:ext cx="5316466" cy="2304000"/>
          </a:xfrm>
          <a:prstGeom prst="rect">
            <a:avLst/>
          </a:prstGeom>
          <a:solidFill>
            <a:srgbClr val="33CCFF">
              <a:alpha val="15000"/>
            </a:srgbClr>
          </a:solidFill>
          <a:ln w="25400" cap="flat" cmpd="sng" algn="ctr">
            <a:solidFill>
              <a:srgbClr val="33CCFF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9" name="Legende mit Linie 1 (Markierungsleiste) 20"/>
          <p:cNvSpPr/>
          <p:nvPr/>
        </p:nvSpPr>
        <p:spPr bwMode="auto">
          <a:xfrm>
            <a:off x="6660232" y="2622918"/>
            <a:ext cx="2483768" cy="1531188"/>
          </a:xfrm>
          <a:prstGeom prst="accentCallout1">
            <a:avLst>
              <a:gd name="adj1" fmla="val 56216"/>
              <a:gd name="adj2" fmla="val -2353"/>
              <a:gd name="adj3" fmla="val 49120"/>
              <a:gd name="adj4" fmla="val -42171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Test </a:t>
            </a: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data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Fields 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component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endParaRPr lang="de-AT" sz="1100" b="0" dirty="0" smtClean="0">
              <a:latin typeface="Arial" pitchFamily="34" charset="0"/>
            </a:endParaRPr>
          </a:p>
          <a:p>
            <a:pPr algn="l">
              <a:spcBef>
                <a:spcPct val="30000"/>
              </a:spcBef>
            </a:pPr>
            <a:r>
              <a:rPr lang="de-AT" sz="1100" b="0" dirty="0" smtClean="0">
                <a:latin typeface="Arial" pitchFamily="34" charset="0"/>
              </a:rPr>
              <a:t>Path </a:t>
            </a:r>
            <a:r>
              <a:rPr lang="de-AT" sz="1100" b="0" dirty="0" err="1">
                <a:latin typeface="Arial" pitchFamily="34" charset="0"/>
              </a:rPr>
              <a:t>and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err="1">
                <a:latin typeface="Arial" pitchFamily="34" charset="0"/>
              </a:rPr>
              <a:t>filename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err="1">
                <a:latin typeface="Arial" pitchFamily="34" charset="0"/>
              </a:rPr>
              <a:t>of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test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Test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fuel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data</a:t>
            </a:r>
            <a:endParaRPr kumimoji="0" lang="de-AT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err="1" smtClean="0">
                <a:latin typeface="Arial" pitchFamily="34" charset="0"/>
              </a:rPr>
              <a:t>Specific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fuel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consumption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figures</a:t>
            </a:r>
            <a:endParaRPr lang="en-US" sz="1100" b="0" dirty="0">
              <a:latin typeface="Arial" pitchFamily="34" charset="0"/>
            </a:endParaRPr>
          </a:p>
          <a:p>
            <a:pPr algn="l">
              <a:spcBef>
                <a:spcPct val="30000"/>
              </a:spcBef>
            </a:pPr>
            <a:r>
              <a:rPr lang="de-AT" sz="1100" b="0" dirty="0" err="1">
                <a:latin typeface="Arial" pitchFamily="34" charset="0"/>
              </a:rPr>
              <a:t>Specific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smtClean="0">
                <a:latin typeface="Arial" pitchFamily="34" charset="0"/>
              </a:rPr>
              <a:t>WHR </a:t>
            </a:r>
            <a:r>
              <a:rPr lang="de-AT" sz="1100" b="0" dirty="0" err="1" smtClean="0">
                <a:latin typeface="Arial" pitchFamily="34" charset="0"/>
              </a:rPr>
              <a:t>work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figures</a:t>
            </a:r>
            <a:r>
              <a:rPr lang="de-AT" sz="1100" b="0" dirty="0" smtClean="0">
                <a:latin typeface="Arial" pitchFamily="34" charset="0"/>
              </a:rPr>
              <a:t> (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engines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with</a:t>
            </a:r>
            <a:r>
              <a:rPr lang="de-AT" sz="1100" b="0" dirty="0" smtClean="0">
                <a:latin typeface="Arial" pitchFamily="34" charset="0"/>
              </a:rPr>
              <a:t> WHR </a:t>
            </a:r>
            <a:r>
              <a:rPr lang="de-AT" sz="1100" b="0" dirty="0" err="1" smtClean="0">
                <a:latin typeface="Arial" pitchFamily="34" charset="0"/>
              </a:rPr>
              <a:t>systems</a:t>
            </a:r>
            <a:r>
              <a:rPr lang="de-AT" sz="1100" b="0" dirty="0" smtClean="0">
                <a:latin typeface="Arial" pitchFamily="34" charset="0"/>
              </a:rPr>
              <a:t>)</a:t>
            </a:r>
            <a:endParaRPr lang="de-AT" sz="1100" b="0" dirty="0">
              <a:latin typeface="Arial" pitchFamily="34" charset="0"/>
            </a:endParaRPr>
          </a:p>
        </p:txBody>
      </p:sp>
      <p:sp>
        <p:nvSpPr>
          <p:cNvPr id="40" name="Legende mit Linie 1 (Markierungsleiste) 20"/>
          <p:cNvSpPr/>
          <p:nvPr/>
        </p:nvSpPr>
        <p:spPr bwMode="auto">
          <a:xfrm>
            <a:off x="6660232" y="4256477"/>
            <a:ext cx="2483768" cy="481670"/>
          </a:xfrm>
          <a:prstGeom prst="accentCallout1">
            <a:avLst>
              <a:gd name="adj1" fmla="val 56216"/>
              <a:gd name="adj2" fmla="val -2353"/>
              <a:gd name="adj3" fmla="val 150960"/>
              <a:gd name="adj4" fmla="val -42504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Control </a:t>
            </a: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button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Start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evaluation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routines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1" name="Rechteck 40"/>
          <p:cNvSpPr/>
          <p:nvPr/>
        </p:nvSpPr>
        <p:spPr bwMode="auto">
          <a:xfrm>
            <a:off x="250282" y="5157764"/>
            <a:ext cx="5316466" cy="180000"/>
          </a:xfrm>
          <a:prstGeom prst="rect">
            <a:avLst/>
          </a:prstGeom>
          <a:solidFill>
            <a:srgbClr val="FFC000">
              <a:alpha val="15000"/>
            </a:srgbClr>
          </a:solidFill>
          <a:ln w="254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2" name="Legende mit Linie 1 (Markierungsleiste) 20"/>
          <p:cNvSpPr/>
          <p:nvPr/>
        </p:nvSpPr>
        <p:spPr bwMode="auto">
          <a:xfrm>
            <a:off x="6660232" y="4840518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58747"/>
              <a:gd name="adj4" fmla="val -42505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Output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Displays </a:t>
            </a:r>
            <a:r>
              <a:rPr lang="de-AT" sz="1100" b="0" dirty="0" err="1" smtClean="0">
                <a:latin typeface="Arial" pitchFamily="34" charset="0"/>
              </a:rPr>
              <a:t>path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of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output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directory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Browse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for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output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folder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3" name="Legende mit Linie 1 (Markierungsleiste) 20"/>
          <p:cNvSpPr/>
          <p:nvPr/>
        </p:nvSpPr>
        <p:spPr bwMode="auto">
          <a:xfrm>
            <a:off x="6660232" y="5644622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31501"/>
              <a:gd name="adj4" fmla="val -4283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Message </a:t>
            </a: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window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Displays </a:t>
            </a:r>
            <a:r>
              <a:rPr lang="de-AT" sz="1100" b="0" dirty="0" err="1" smtClean="0">
                <a:latin typeface="Arial" pitchFamily="34" charset="0"/>
              </a:rPr>
              <a:t>messages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during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execution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Export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messages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to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clipboard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332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it-IT" dirty="0"/>
              <a:t>VECTO Engine – </a:t>
            </a:r>
            <a:r>
              <a:rPr lang="it-IT" dirty="0" err="1" smtClean="0"/>
              <a:t>Operation</a:t>
            </a:r>
            <a:r>
              <a:rPr lang="it-IT" dirty="0" smtClean="0"/>
              <a:t> </a:t>
            </a:r>
            <a:r>
              <a:rPr lang="it-IT" dirty="0"/>
              <a:t>via GUI</a:t>
            </a:r>
            <a:endParaRPr lang="en-US" dirty="0"/>
          </a:p>
        </p:txBody>
      </p:sp>
      <p:grpSp>
        <p:nvGrpSpPr>
          <p:cNvPr id="19" name="Gruppieren 18"/>
          <p:cNvGrpSpPr/>
          <p:nvPr/>
        </p:nvGrpSpPr>
        <p:grpSpPr>
          <a:xfrm>
            <a:off x="179626" y="1051826"/>
            <a:ext cx="5492123" cy="5306426"/>
            <a:chOff x="179626" y="1051826"/>
            <a:chExt cx="5492123" cy="5306426"/>
          </a:xfrm>
        </p:grpSpPr>
        <p:pic>
          <p:nvPicPr>
            <p:cNvPr id="20" name="Grafik 1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626" y="1051826"/>
              <a:ext cx="5492123" cy="5306426"/>
            </a:xfrm>
            <a:prstGeom prst="rect">
              <a:avLst/>
            </a:prstGeom>
          </p:spPr>
        </p:pic>
        <p:pic>
          <p:nvPicPr>
            <p:cNvPr id="21" name="Grafik 20"/>
            <p:cNvPicPr>
              <a:picLocks noChangeAspect="1"/>
            </p:cNvPicPr>
            <p:nvPr/>
          </p:nvPicPr>
          <p:blipFill rotWithShape="1">
            <a:blip r:embed="rId4"/>
            <a:srcRect l="74732" t="81437"/>
            <a:stretch/>
          </p:blipFill>
          <p:spPr>
            <a:xfrm>
              <a:off x="4283995" y="5373216"/>
              <a:ext cx="1387754" cy="985010"/>
            </a:xfrm>
            <a:prstGeom prst="rect">
              <a:avLst/>
            </a:prstGeom>
          </p:spPr>
        </p:pic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4"/>
            <a:srcRect l="74732" b="67415"/>
            <a:stretch/>
          </p:blipFill>
          <p:spPr>
            <a:xfrm>
              <a:off x="4283968" y="1051826"/>
              <a:ext cx="1387754" cy="1729102"/>
            </a:xfrm>
            <a:prstGeom prst="rect">
              <a:avLst/>
            </a:prstGeom>
          </p:spPr>
        </p:pic>
      </p:grpSp>
      <p:sp>
        <p:nvSpPr>
          <p:cNvPr id="23" name="Rechteck 22"/>
          <p:cNvSpPr/>
          <p:nvPr/>
        </p:nvSpPr>
        <p:spPr bwMode="auto">
          <a:xfrm>
            <a:off x="255788" y="1581731"/>
            <a:ext cx="5316466" cy="1296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4" name="Legende mit Linie 1 (Markierungsleiste) 7"/>
          <p:cNvSpPr/>
          <p:nvPr/>
        </p:nvSpPr>
        <p:spPr bwMode="auto">
          <a:xfrm>
            <a:off x="6660232" y="1697228"/>
            <a:ext cx="2483768" cy="820225"/>
          </a:xfrm>
          <a:prstGeom prst="accentCallout1">
            <a:avLst>
              <a:gd name="adj1" fmla="val 56216"/>
              <a:gd name="adj2" fmla="val -2353"/>
              <a:gd name="adj3" fmla="val 191065"/>
              <a:gd name="adj4" fmla="val -4249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2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Load all </a:t>
            </a:r>
            <a:r>
              <a:rPr lang="de-AT" sz="1100" b="0" dirty="0" err="1" smtClean="0">
                <a:latin typeface="Arial" pitchFamily="34" charset="0"/>
              </a:rPr>
              <a:t>required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input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r>
              <a:rPr lang="de-AT" sz="1100" b="0" dirty="0" smtClean="0">
                <a:latin typeface="Arial" pitchFamily="34" charset="0"/>
              </a:rPr>
              <a:t> via separate open </a:t>
            </a:r>
            <a:r>
              <a:rPr lang="de-AT" sz="1100" b="0" dirty="0" err="1" smtClean="0">
                <a:latin typeface="Arial" pitchFamily="34" charset="0"/>
              </a:rPr>
              <a:t>file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buttons</a:t>
            </a:r>
            <a:r>
              <a:rPr lang="de-AT" sz="1100" b="0" dirty="0">
                <a:latin typeface="Arial" pitchFamily="34" charset="0"/>
              </a:rPr>
              <a:t/>
            </a:r>
            <a:br>
              <a:rPr lang="de-AT" sz="1100" b="0" dirty="0">
                <a:latin typeface="Arial" pitchFamily="34" charset="0"/>
              </a:rPr>
            </a:br>
            <a:r>
              <a:rPr lang="de-AT" sz="1100" b="0" dirty="0" smtClean="0">
                <a:latin typeface="Arial" pitchFamily="34" charset="0"/>
              </a:rPr>
              <a:t>(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format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please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see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demo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r>
              <a:rPr lang="de-AT" sz="1100" b="0" dirty="0" smtClean="0">
                <a:latin typeface="Arial" pitchFamily="34" charset="0"/>
              </a:rPr>
              <a:t>)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5" name="Legende mit Linie 1 (Markierungsleiste) 13"/>
          <p:cNvSpPr/>
          <p:nvPr/>
        </p:nvSpPr>
        <p:spPr bwMode="auto">
          <a:xfrm>
            <a:off x="6660232" y="4802734"/>
            <a:ext cx="2483768" cy="650947"/>
          </a:xfrm>
          <a:prstGeom prst="accentCallout1">
            <a:avLst>
              <a:gd name="adj1" fmla="val 56216"/>
              <a:gd name="adj2" fmla="val -2353"/>
              <a:gd name="adj3" fmla="val 71210"/>
              <a:gd name="adj4" fmla="val -41993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4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err="1" smtClean="0">
                <a:latin typeface="Arial" pitchFamily="34" charset="0"/>
              </a:rPr>
              <a:t>Define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directory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where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output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are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stored</a:t>
            </a:r>
            <a:r>
              <a:rPr lang="de-AT" sz="1100" b="0" dirty="0" smtClean="0">
                <a:latin typeface="Arial" pitchFamily="34" charset="0"/>
              </a:rPr>
              <a:t> 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6" name="Legende mit Linie 1 (Markierungsleiste) 14"/>
          <p:cNvSpPr/>
          <p:nvPr/>
        </p:nvSpPr>
        <p:spPr bwMode="auto">
          <a:xfrm>
            <a:off x="6660232" y="5526798"/>
            <a:ext cx="2483768" cy="800219"/>
          </a:xfrm>
          <a:prstGeom prst="accentCallout1">
            <a:avLst>
              <a:gd name="adj1" fmla="val 56216"/>
              <a:gd name="adj2" fmla="val -2353"/>
              <a:gd name="adj3" fmla="val -73790"/>
              <a:gd name="adj4" fmla="val -151852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5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Press „Start“ </a:t>
            </a:r>
            <a:r>
              <a:rPr lang="de-AT" sz="1100" b="0" dirty="0" err="1" smtClean="0">
                <a:latin typeface="Arial" pitchFamily="34" charset="0"/>
              </a:rPr>
              <a:t>button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full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evaluation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9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(OR press </a:t>
            </a:r>
            <a:r>
              <a:rPr kumimoji="0" lang="de-AT" sz="9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other</a:t>
            </a:r>
            <a:r>
              <a:rPr kumimoji="0" lang="de-AT" sz="9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button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to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precalculate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grid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for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fuel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map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from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CO2-parent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full-load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curve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)</a:t>
            </a:r>
            <a:endParaRPr kumimoji="0" lang="en-US" sz="9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8" name="Rechteck 27"/>
          <p:cNvSpPr/>
          <p:nvPr/>
        </p:nvSpPr>
        <p:spPr bwMode="auto">
          <a:xfrm>
            <a:off x="255788" y="5157320"/>
            <a:ext cx="5316466" cy="180000"/>
          </a:xfrm>
          <a:prstGeom prst="rect">
            <a:avLst/>
          </a:prstGeom>
          <a:solidFill>
            <a:srgbClr val="7030A0">
              <a:alpha val="15000"/>
            </a:srgbClr>
          </a:solidFill>
          <a:ln w="25400" cap="flat" cmpd="sng" algn="ctr">
            <a:solidFill>
              <a:srgbClr val="7030A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4" name="Rechteck 43"/>
          <p:cNvSpPr/>
          <p:nvPr/>
        </p:nvSpPr>
        <p:spPr bwMode="auto">
          <a:xfrm>
            <a:off x="255788" y="2924944"/>
            <a:ext cx="5316466" cy="648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5" name="Rechteck 44"/>
          <p:cNvSpPr/>
          <p:nvPr/>
        </p:nvSpPr>
        <p:spPr bwMode="auto">
          <a:xfrm>
            <a:off x="255788" y="3717032"/>
            <a:ext cx="5316466" cy="1080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6" name="Legende mit Linie 1 (Markierungsleiste) 19"/>
          <p:cNvSpPr/>
          <p:nvPr/>
        </p:nvSpPr>
        <p:spPr bwMode="auto">
          <a:xfrm>
            <a:off x="6660232" y="2608267"/>
            <a:ext cx="2483768" cy="2103653"/>
          </a:xfrm>
          <a:prstGeom prst="accentCallout1">
            <a:avLst>
              <a:gd name="adj1" fmla="val 56216"/>
              <a:gd name="adj2" fmla="val -2353"/>
              <a:gd name="adj3" fmla="val 75066"/>
              <a:gd name="adj4" fmla="val -42214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3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Input </a:t>
            </a:r>
            <a:r>
              <a:rPr lang="de-AT" sz="1100" b="0" dirty="0" err="1" smtClean="0">
                <a:latin typeface="Arial" pitchFamily="34" charset="0"/>
              </a:rPr>
              <a:t>measured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specific</a:t>
            </a:r>
            <a:r>
              <a:rPr lang="de-AT" sz="1100" b="0" dirty="0" smtClean="0">
                <a:latin typeface="Arial" pitchFamily="34" charset="0"/>
              </a:rPr>
              <a:t> FC </a:t>
            </a:r>
            <a:r>
              <a:rPr lang="de-AT" sz="1100" b="0" dirty="0" err="1" smtClean="0">
                <a:latin typeface="Arial" pitchFamily="34" charset="0"/>
              </a:rPr>
              <a:t>values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and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correction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factor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563" algn="l"/>
              </a:tabLst>
            </a:pP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	separate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tabs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appear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depending</a:t>
            </a:r>
            <a:r>
              <a:rPr lang="de-AT" sz="900" b="0" dirty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on</a:t>
            </a:r>
            <a:b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</a:b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	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setting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of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technology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checkboxes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under</a:t>
            </a:r>
            <a:r>
              <a:rPr lang="de-AT" sz="900" b="0" dirty="0">
                <a:latin typeface="Arial" pitchFamily="34" charset="0"/>
                <a:sym typeface="Wingdings" panose="05000000000000000000" pitchFamily="2" charset="2"/>
              </a:rPr>
              <a:t/>
            </a:r>
            <a:br>
              <a:rPr lang="de-AT" sz="900" b="0" dirty="0">
                <a:latin typeface="Arial" pitchFamily="34" charset="0"/>
                <a:sym typeface="Wingdings" panose="05000000000000000000" pitchFamily="2" charset="2"/>
              </a:rPr>
            </a:b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	„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engine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component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data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“</a:t>
            </a:r>
            <a:endParaRPr lang="de-AT" sz="9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1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OPTIONAL INPUTS:</a:t>
            </a:r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e-AT" sz="900" b="0" i="1" dirty="0" err="1" smtClean="0">
                <a:latin typeface="Arial" pitchFamily="34" charset="0"/>
              </a:rPr>
              <a:t>Measured</a:t>
            </a:r>
            <a:r>
              <a:rPr lang="de-AT" sz="900" b="0" i="1" dirty="0" smtClean="0">
                <a:latin typeface="Arial" pitchFamily="34" charset="0"/>
              </a:rPr>
              <a:t> </a:t>
            </a:r>
            <a:r>
              <a:rPr lang="de-AT" sz="900" b="0" i="1" dirty="0" err="1" smtClean="0">
                <a:latin typeface="Arial" pitchFamily="34" charset="0"/>
              </a:rPr>
              <a:t>specific</a:t>
            </a:r>
            <a:r>
              <a:rPr lang="de-AT" sz="900" b="0" i="1" dirty="0" smtClean="0">
                <a:latin typeface="Arial" pitchFamily="34" charset="0"/>
              </a:rPr>
              <a:t> WHR </a:t>
            </a:r>
            <a:r>
              <a:rPr lang="de-AT" sz="900" b="0" i="1" dirty="0" err="1" smtClean="0">
                <a:latin typeface="Arial" pitchFamily="34" charset="0"/>
              </a:rPr>
              <a:t>work</a:t>
            </a:r>
            <a:r>
              <a:rPr lang="de-AT" sz="900" b="0" i="1" dirty="0">
                <a:latin typeface="Arial" pitchFamily="34" charset="0"/>
              </a:rPr>
              <a:t/>
            </a:r>
            <a:br>
              <a:rPr lang="de-AT" sz="900" b="0" i="1" dirty="0">
                <a:latin typeface="Arial" pitchFamily="34" charset="0"/>
              </a:rPr>
            </a:br>
            <a:r>
              <a:rPr lang="de-AT" sz="900" b="0" i="1" dirty="0">
                <a:latin typeface="Arial" pitchFamily="34" charset="0"/>
              </a:rPr>
              <a:t>(</a:t>
            </a:r>
            <a:r>
              <a:rPr lang="de-AT" sz="900" b="0" i="1" dirty="0" err="1">
                <a:latin typeface="Arial" pitchFamily="34" charset="0"/>
              </a:rPr>
              <a:t>for</a:t>
            </a:r>
            <a:r>
              <a:rPr lang="de-AT" sz="900" b="0" i="1" dirty="0">
                <a:latin typeface="Arial" pitchFamily="34" charset="0"/>
              </a:rPr>
              <a:t> </a:t>
            </a:r>
            <a:r>
              <a:rPr lang="de-AT" sz="900" b="0" i="1" dirty="0" err="1">
                <a:latin typeface="Arial" pitchFamily="34" charset="0"/>
              </a:rPr>
              <a:t>engines</a:t>
            </a:r>
            <a:r>
              <a:rPr lang="de-AT" sz="900" b="0" i="1" dirty="0">
                <a:latin typeface="Arial" pitchFamily="34" charset="0"/>
              </a:rPr>
              <a:t> </a:t>
            </a:r>
            <a:r>
              <a:rPr lang="de-AT" sz="900" b="0" i="1" dirty="0" err="1">
                <a:latin typeface="Arial" pitchFamily="34" charset="0"/>
              </a:rPr>
              <a:t>with</a:t>
            </a:r>
            <a:r>
              <a:rPr lang="de-AT" sz="900" b="0" i="1" dirty="0">
                <a:latin typeface="Arial" pitchFamily="34" charset="0"/>
              </a:rPr>
              <a:t> WHR </a:t>
            </a:r>
            <a:r>
              <a:rPr lang="de-AT" sz="900" b="0" i="1" dirty="0" err="1">
                <a:latin typeface="Arial" pitchFamily="34" charset="0"/>
              </a:rPr>
              <a:t>systems</a:t>
            </a:r>
            <a:r>
              <a:rPr lang="de-AT" sz="900" b="0" i="1" dirty="0" smtClean="0">
                <a:latin typeface="Arial" pitchFamily="34" charset="0"/>
              </a:rPr>
              <a:t>)</a:t>
            </a:r>
          </a:p>
          <a:p>
            <a:pPr marL="171450" indent="-171450" algn="l">
              <a:spcBef>
                <a:spcPct val="30000"/>
              </a:spcBef>
              <a:buFont typeface="Wingdings" panose="05000000000000000000" pitchFamily="2" charset="2"/>
              <a:buChar char="§"/>
            </a:pPr>
            <a:r>
              <a:rPr lang="de-AT" sz="900" b="0" dirty="0" err="1" smtClean="0">
                <a:latin typeface="Arial" pitchFamily="34" charset="0"/>
              </a:rPr>
              <a:t>Measured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>
                <a:latin typeface="Arial" pitchFamily="34" charset="0"/>
              </a:rPr>
              <a:t>specific</a:t>
            </a:r>
            <a:r>
              <a:rPr lang="de-AT" sz="900" b="0" dirty="0">
                <a:latin typeface="Arial" pitchFamily="34" charset="0"/>
              </a:rPr>
              <a:t> FC </a:t>
            </a:r>
            <a:r>
              <a:rPr lang="de-AT" sz="900" b="0" dirty="0" err="1">
                <a:latin typeface="Arial" pitchFamily="34" charset="0"/>
              </a:rPr>
              <a:t>values</a:t>
            </a:r>
            <a:r>
              <a:rPr lang="de-AT" sz="900" b="0" dirty="0">
                <a:latin typeface="Arial" pitchFamily="34" charset="0"/>
              </a:rPr>
              <a:t> </a:t>
            </a:r>
            <a:r>
              <a:rPr lang="de-AT" sz="900" b="0" dirty="0" err="1">
                <a:latin typeface="Arial" pitchFamily="34" charset="0"/>
              </a:rPr>
              <a:t>and</a:t>
            </a:r>
            <a:r>
              <a:rPr lang="de-AT" sz="900" b="0" dirty="0">
                <a:latin typeface="Arial" pitchFamily="34" charset="0"/>
              </a:rPr>
              <a:t> </a:t>
            </a:r>
            <a:r>
              <a:rPr lang="de-AT" sz="900" b="0" dirty="0" err="1">
                <a:latin typeface="Arial" pitchFamily="34" charset="0"/>
              </a:rPr>
              <a:t>correction</a:t>
            </a:r>
            <a:r>
              <a:rPr lang="de-AT" sz="900" b="0" dirty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factor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for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secondary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fuel</a:t>
            </a:r>
            <a:r>
              <a:rPr lang="de-AT" sz="900" b="0" dirty="0" smtClean="0">
                <a:latin typeface="Arial" pitchFamily="34" charset="0"/>
              </a:rPr>
              <a:t/>
            </a:r>
            <a:br>
              <a:rPr lang="de-AT" sz="900" b="0" dirty="0" smtClean="0">
                <a:latin typeface="Arial" pitchFamily="34" charset="0"/>
              </a:rPr>
            </a:br>
            <a:r>
              <a:rPr lang="de-AT" sz="900" b="0" dirty="0" smtClean="0">
                <a:latin typeface="Arial" pitchFamily="34" charset="0"/>
              </a:rPr>
              <a:t>(</a:t>
            </a:r>
            <a:r>
              <a:rPr lang="de-AT" sz="900" b="0" dirty="0" err="1" smtClean="0">
                <a:latin typeface="Arial" pitchFamily="34" charset="0"/>
              </a:rPr>
              <a:t>for</a:t>
            </a:r>
            <a:r>
              <a:rPr lang="de-AT" sz="900" b="0" dirty="0" smtClean="0">
                <a:latin typeface="Arial" pitchFamily="34" charset="0"/>
              </a:rPr>
              <a:t> dual-</a:t>
            </a:r>
            <a:r>
              <a:rPr lang="de-AT" sz="900" b="0" dirty="0" err="1" smtClean="0">
                <a:latin typeface="Arial" pitchFamily="34" charset="0"/>
              </a:rPr>
              <a:t>fuel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engines</a:t>
            </a:r>
            <a:r>
              <a:rPr lang="de-AT" sz="900" b="0" dirty="0" smtClean="0">
                <a:latin typeface="Arial" pitchFamily="34" charset="0"/>
              </a:rPr>
              <a:t>)</a:t>
            </a:r>
            <a:endParaRPr kumimoji="0" lang="en-US" sz="9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7" name="Legende mit Linie 1 (Markierungsleiste) 20"/>
          <p:cNvSpPr/>
          <p:nvPr/>
        </p:nvSpPr>
        <p:spPr bwMode="auto">
          <a:xfrm>
            <a:off x="6660232" y="1124744"/>
            <a:ext cx="2483768" cy="481670"/>
          </a:xfrm>
          <a:prstGeom prst="accentCallout1">
            <a:avLst>
              <a:gd name="adj1" fmla="val 56216"/>
              <a:gd name="adj2" fmla="val -2353"/>
              <a:gd name="adj3" fmla="val 176684"/>
              <a:gd name="adj4" fmla="val -4283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lang="de-AT" sz="1100" u="sng" dirty="0">
                <a:latin typeface="Arial" pitchFamily="34" charset="0"/>
              </a:rPr>
              <a:t>1</a:t>
            </a:r>
            <a:endParaRPr kumimoji="0" lang="de-AT" sz="1100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Input all </a:t>
            </a:r>
            <a:r>
              <a:rPr lang="de-AT" sz="1100" b="0" dirty="0" err="1" smtClean="0">
                <a:latin typeface="Arial" pitchFamily="34" charset="0"/>
              </a:rPr>
              <a:t>component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63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886700" cy="576000"/>
          </a:xfrm>
        </p:spPr>
        <p:txBody>
          <a:bodyPr>
            <a:normAutofit/>
          </a:bodyPr>
          <a:lstStyle/>
          <a:p>
            <a:r>
              <a:rPr lang="en-US" dirty="0" smtClean="0"/>
              <a:t>VECTO Engine – Basic features</a:t>
            </a:r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360000" y="1267200"/>
            <a:ext cx="8100000" cy="326350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Written in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VB.net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Portable application (i.e. no installation required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File format conventions </a:t>
            </a:r>
            <a:r>
              <a:rPr lang="en-US" sz="16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[§6 </a:t>
            </a:r>
            <a:r>
              <a:rPr lang="en-US" sz="1600" i="1" dirty="0" smtClean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of Annex V </a:t>
            </a:r>
            <a:r>
              <a:rPr lang="en-US" sz="16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of Regulation (EU) 2017/2400]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CSV (Comma Separated Values) file type</a:t>
            </a:r>
          </a:p>
          <a:p>
            <a:pPr lvl="2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 separator is </a:t>
            </a:r>
            <a:r>
              <a:rPr lang="fr-FR" dirty="0">
                <a:latin typeface="Helvetica" panose="020B0604020202020204" pitchFamily="34" charset="0"/>
                <a:cs typeface="Helvetica" panose="020B0604020202020204" pitchFamily="34" charset="0"/>
              </a:rPr>
              <a:t>Comma “,”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2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Decimal separator is </a:t>
            </a:r>
            <a:r>
              <a:rPr lang="fr-FR" dirty="0">
                <a:latin typeface="Helvetica" panose="020B0604020202020204" pitchFamily="34" charset="0"/>
                <a:cs typeface="Helvetica" panose="020B0604020202020204" pitchFamily="34" charset="0"/>
              </a:rPr>
              <a:t>Dot </a:t>
            </a:r>
            <a:r>
              <a:rPr lang="fr-FR" dirty="0" smtClean="0">
                <a:latin typeface="Helvetica" panose="020B0604020202020204" pitchFamily="34" charset="0"/>
                <a:cs typeface="Helvetica" panose="020B0604020202020204" pitchFamily="34" charset="0"/>
              </a:rPr>
              <a:t>“.”</a:t>
            </a:r>
            <a:br>
              <a:rPr lang="fr-FR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fr-FR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According to Regulation (EU) 2017/2400 the use of VECTO Engine is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mandatory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Output is one single XML file</a:t>
            </a: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File already hashed</a:t>
            </a: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Ready for use in VECTO vehicle simulation for declaration</a:t>
            </a:r>
          </a:p>
        </p:txBody>
      </p:sp>
    </p:spTree>
    <p:extLst>
      <p:ext uri="{BB962C8B-B14F-4D97-AF65-F5344CB8AC3E}">
        <p14:creationId xmlns:p14="http://schemas.microsoft.com/office/powerpoint/2010/main" val="162204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 smtClean="0"/>
              <a:t>VECTO Engine – Input files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464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VECTO Engine needs 4 separate input files</a:t>
            </a:r>
            <a:br>
              <a:rPr lang="en-US" sz="1400" b="0" dirty="0" smtClean="0">
                <a:latin typeface="Helvetica"/>
              </a:rPr>
            </a:br>
            <a:r>
              <a:rPr lang="en-US" sz="1400" b="0" dirty="0" smtClean="0">
                <a:latin typeface="Helvetica"/>
              </a:rPr>
              <a:t>(determined according to the current version of the technical annex):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</a:rPr>
              <a:t>Fuel consumption map of CO2-parent engine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</a:rPr>
              <a:t>Full-load curve of </a:t>
            </a:r>
            <a:r>
              <a:rPr lang="en-US" sz="1200" b="0" dirty="0">
                <a:latin typeface="Helvetica"/>
              </a:rPr>
              <a:t>CO2-parent engine</a:t>
            </a:r>
            <a:endParaRPr lang="en-US" sz="1200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>
                <a:latin typeface="Helvetica"/>
              </a:rPr>
              <a:t>Full-load curve of </a:t>
            </a:r>
            <a:r>
              <a:rPr lang="en-US" sz="1200" b="0" dirty="0" smtClean="0">
                <a:latin typeface="Helvetica"/>
              </a:rPr>
              <a:t>engine to be certified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</a:rPr>
              <a:t>Motoring </a:t>
            </a:r>
            <a:r>
              <a:rPr lang="en-US" sz="1200" b="0" dirty="0">
                <a:latin typeface="Helvetica"/>
              </a:rPr>
              <a:t>curve of CO2-parent engine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endParaRPr lang="en-US" sz="1400" b="0" dirty="0" smtClean="0">
              <a:latin typeface="Helvetica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Input file formats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For file formats please refer to the technical annex or supplied demo files!</a:t>
            </a:r>
            <a:br>
              <a:rPr lang="en-US" sz="1200" b="0" dirty="0" smtClean="0">
                <a:latin typeface="Helvetica"/>
                <a:sym typeface="Wingdings" panose="05000000000000000000" pitchFamily="2" charset="2"/>
              </a:rPr>
            </a:br>
            <a:r>
              <a:rPr lang="en-US" sz="12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[§6 of Annex V of Regulation (EU) 2017/2400]</a:t>
            </a:r>
            <a:endParaRPr lang="en-US" sz="1200" b="0" dirty="0" smtClean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n-US" sz="1400" b="0" dirty="0" smtClean="0">
              <a:latin typeface="Helvetica"/>
              <a:sym typeface="Wingdings" panose="05000000000000000000" pitchFamily="2" charset="2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Demo data supplied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Two different full-load curves for two power ratings of one engine </a:t>
            </a:r>
            <a:r>
              <a:rPr lang="en-US" sz="1200" b="0" dirty="0" smtClean="0">
                <a:latin typeface="Helvetica"/>
              </a:rPr>
              <a:t>CO2-family</a:t>
            </a: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 supplied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 smtClean="0">
                <a:latin typeface="Helvetica"/>
                <a:sym typeface="Wingdings" panose="05000000000000000000" pitchFamily="2" charset="2"/>
              </a:rPr>
              <a:t>Child: full-load of lower power rating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 smtClean="0">
                <a:latin typeface="Helvetica"/>
                <a:sym typeface="Wingdings" panose="05000000000000000000" pitchFamily="2" charset="2"/>
              </a:rPr>
              <a:t>Parent: full-load of highest power rating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>
                <a:latin typeface="Helvetica"/>
                <a:sym typeface="Wingdings" panose="05000000000000000000" pitchFamily="2" charset="2"/>
              </a:rPr>
              <a:t>Four different fuel consumption map files </a:t>
            </a: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plus respective job files (*.</a:t>
            </a:r>
            <a:r>
              <a:rPr lang="en-US" sz="1200" b="0" dirty="0" err="1" smtClean="0">
                <a:latin typeface="Helvetica"/>
                <a:sym typeface="Wingdings" panose="05000000000000000000" pitchFamily="2" charset="2"/>
              </a:rPr>
              <a:t>vep</a:t>
            </a: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) supplied</a:t>
            </a:r>
            <a:endParaRPr lang="en-US" sz="1200" b="0" dirty="0">
              <a:latin typeface="Helvetica"/>
              <a:sym typeface="Wingdings" panose="05000000000000000000" pitchFamily="2" charset="2"/>
            </a:endParaRP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Standard single fuel engine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Dual-fuel engine w/o WHR system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Dual-fuel engine w/ WHR system w/ mechanical output to vehicle’s drivetrain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Dual-fuel engine w/ WHR system w/ electrical output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n-US" sz="1000" b="0" dirty="0">
              <a:latin typeface="Helvetica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28712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 smtClean="0"/>
              <a:t>VECTO Engine – Output files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000" cy="2323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/>
              </a:rPr>
              <a:t>VECTO Engine produces one XML output file:</a:t>
            </a:r>
            <a:br>
              <a:rPr lang="en-US" b="0" dirty="0" smtClean="0">
                <a:latin typeface="Helvetica"/>
              </a:rPr>
            </a:br>
            <a:endParaRPr lang="en-US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File </a:t>
            </a:r>
            <a:r>
              <a:rPr lang="en-US" sz="1400" b="0" dirty="0">
                <a:latin typeface="Helvetica"/>
              </a:rPr>
              <a:t>name is </a:t>
            </a:r>
            <a:r>
              <a:rPr lang="en-US" sz="1400" b="0" dirty="0" smtClean="0">
                <a:latin typeface="Helvetica"/>
              </a:rPr>
              <a:t>created based on GUI input data according to the following scheme:</a:t>
            </a:r>
            <a:br>
              <a:rPr lang="en-US" sz="1400" b="0" dirty="0" smtClean="0">
                <a:latin typeface="Helvetica"/>
              </a:rPr>
            </a:br>
            <a:r>
              <a:rPr lang="en-US" sz="1400" b="0" dirty="0">
                <a:latin typeface="Helvetica"/>
              </a:rPr>
              <a:t/>
            </a:r>
            <a:br>
              <a:rPr lang="en-US" sz="1400" b="0" dirty="0">
                <a:latin typeface="Helvetica"/>
              </a:rPr>
            </a:br>
            <a:r>
              <a:rPr lang="en-US" sz="1400" b="0" dirty="0" smtClean="0">
                <a:latin typeface="Helvetica"/>
              </a:rPr>
              <a:t>“Manufacturer” &amp; </a:t>
            </a:r>
            <a:r>
              <a:rPr lang="en-US" sz="1400" b="0" dirty="0">
                <a:latin typeface="Helvetica"/>
              </a:rPr>
              <a:t>"_" </a:t>
            </a:r>
            <a:r>
              <a:rPr lang="en-US" sz="1400" b="0" dirty="0" smtClean="0">
                <a:latin typeface="Helvetica"/>
              </a:rPr>
              <a:t>&amp; “Model” &amp; </a:t>
            </a:r>
            <a:r>
              <a:rPr lang="en-US" sz="1400" b="0" dirty="0">
                <a:latin typeface="Helvetica"/>
              </a:rPr>
              <a:t>".</a:t>
            </a:r>
            <a:r>
              <a:rPr lang="en-US" sz="1400" b="0" dirty="0" smtClean="0">
                <a:latin typeface="Helvetica"/>
              </a:rPr>
              <a:t>xml“</a:t>
            </a:r>
            <a:br>
              <a:rPr lang="en-US" sz="1400" b="0" dirty="0" smtClean="0">
                <a:latin typeface="Helvetica"/>
              </a:rPr>
            </a:br>
            <a:endParaRPr lang="en-US" sz="1400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/>
              </a:rPr>
              <a:t>File already </a:t>
            </a:r>
            <a:r>
              <a:rPr lang="en-US" sz="1400" b="0" dirty="0" smtClean="0">
                <a:latin typeface="Helvetica"/>
              </a:rPr>
              <a:t>hashed</a:t>
            </a:r>
            <a:br>
              <a:rPr lang="en-US" sz="1400" b="0" dirty="0" smtClean="0">
                <a:latin typeface="Helvetica"/>
              </a:rPr>
            </a:br>
            <a:endParaRPr lang="en-US" sz="1400" b="0" dirty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/>
              </a:rPr>
              <a:t>Ready for use in VECTO vehicle simulation for </a:t>
            </a:r>
            <a:r>
              <a:rPr lang="en-US" sz="1400" b="0" dirty="0" smtClean="0">
                <a:latin typeface="Helvetica"/>
              </a:rPr>
              <a:t>declaration</a:t>
            </a:r>
          </a:p>
        </p:txBody>
      </p:sp>
    </p:spTree>
    <p:extLst>
      <p:ext uri="{BB962C8B-B14F-4D97-AF65-F5344CB8AC3E}">
        <p14:creationId xmlns:p14="http://schemas.microsoft.com/office/powerpoint/2010/main" val="1838928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Evaluation algorithms</a:t>
            </a:r>
            <a:br>
              <a:rPr lang="en-US" dirty="0" smtClean="0"/>
            </a:br>
            <a:r>
              <a:rPr lang="en-US" dirty="0" smtClean="0"/>
              <a:t>performed (p1/2)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179512" y="1268760"/>
            <a:ext cx="878400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936000" algn="l"/>
            <a:r>
              <a:rPr lang="en-US" sz="1400" b="0" dirty="0"/>
              <a:t>For a detailed description of all operations performed during data evaluation please refer </a:t>
            </a:r>
            <a:r>
              <a:rPr lang="en-US" sz="1400" b="0" dirty="0" smtClean="0"/>
              <a:t>to</a:t>
            </a:r>
          </a:p>
          <a:p>
            <a:pPr indent="-936000" algn="l"/>
            <a:r>
              <a:rPr lang="en-US" sz="1400" b="0" dirty="0" smtClean="0"/>
              <a:t>Appendix </a:t>
            </a:r>
            <a:r>
              <a:rPr lang="en-US" sz="1400" b="0" dirty="0"/>
              <a:t>8 to Annex V of COMMISSION REGULATION (EU) 2017/2400</a:t>
            </a:r>
          </a:p>
        </p:txBody>
      </p:sp>
    </p:spTree>
    <p:extLst>
      <p:ext uri="{BB962C8B-B14F-4D97-AF65-F5344CB8AC3E}">
        <p14:creationId xmlns:p14="http://schemas.microsoft.com/office/powerpoint/2010/main" val="399374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Evaluation algorithms</a:t>
            </a:r>
            <a:br>
              <a:rPr lang="en-US" dirty="0" smtClean="0"/>
            </a:br>
            <a:r>
              <a:rPr lang="en-US" dirty="0" smtClean="0"/>
              <a:t>performed (p2/2)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0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b="0" dirty="0">
                <a:latin typeface="Helvetica" panose="020B0604020202020204" pitchFamily="34" charset="0"/>
                <a:cs typeface="Helvetica" panose="020B0604020202020204" pitchFamily="34" charset="0"/>
              </a:rPr>
              <a:t>Example of data processing through VECTO Engine for FC map</a:t>
            </a:r>
            <a:endParaRPr lang="de-AT" b="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751330"/>
            <a:ext cx="8554438" cy="3981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07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886700" cy="576000"/>
          </a:xfrm>
        </p:spPr>
        <p:txBody>
          <a:bodyPr anchor="ctr" anchorCtr="0">
            <a:normAutofit/>
          </a:bodyPr>
          <a:lstStyle/>
          <a:p>
            <a:r>
              <a:rPr lang="en-US" dirty="0"/>
              <a:t>VECTO </a:t>
            </a:r>
            <a:r>
              <a:rPr lang="en-US" dirty="0" smtClean="0"/>
              <a:t>Engine </a:t>
            </a:r>
            <a:r>
              <a:rPr lang="en-US" dirty="0"/>
              <a:t>– Further important </a:t>
            </a:r>
            <a:r>
              <a:rPr lang="en-US" dirty="0" smtClean="0"/>
              <a:t>remarks</a:t>
            </a:r>
            <a:endParaRPr lang="en-US" dirty="0"/>
          </a:p>
        </p:txBody>
      </p:sp>
      <p:sp>
        <p:nvSpPr>
          <p:cNvPr id="3" name="Textfeld 2"/>
          <p:cNvSpPr txBox="1"/>
          <p:nvPr/>
        </p:nvSpPr>
        <p:spPr>
          <a:xfrm>
            <a:off x="467544" y="1267200"/>
            <a:ext cx="828092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Messages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displayed</a:t>
            </a: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Clear explanations for all relevant errors (ref. to regulation or indication of </a:t>
            </a:r>
            <a:r>
              <a:rPr lang="en-US" sz="1400" b="0" dirty="0" err="1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datapoint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)</a:t>
            </a: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Warnings vs. Errors:</a:t>
            </a:r>
          </a:p>
          <a:p>
            <a:pPr marL="1257300" lvl="2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A valid XML results file is only created if no errors occur (non-conformity with requirements in regulation)</a:t>
            </a:r>
          </a:p>
          <a:p>
            <a:pPr marL="1257300" lvl="2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Warnings give a hint that something might be wrong with the input data</a:t>
            </a:r>
            <a:b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</a:b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XML result file is valid despite warnings</a:t>
            </a:r>
            <a:b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</a:b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="0" u="sng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BUT: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 warnings should be investigated together with TAA / technical service</a:t>
            </a:r>
          </a:p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endParaRPr lang="en-US" b="0" dirty="0" smtClean="0">
              <a:latin typeface="Helvetica" panose="020B0604020202020204" pitchFamily="34" charset="0"/>
              <a:ea typeface="Times" panose="02020603060405020304" pitchFamily="18" charset="0"/>
              <a:cs typeface="Helvetica" panose="020B0604020202020204" pitchFamily="34" charset="0"/>
            </a:endParaRPr>
          </a:p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Only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one single XML file is created as output</a:t>
            </a:r>
          </a:p>
          <a:p>
            <a:pPr marL="800100" lvl="1" indent="-342900" algn="l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File already hashed</a:t>
            </a: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Ready for use in VECTO vehicle simulation for declaration</a:t>
            </a:r>
          </a:p>
        </p:txBody>
      </p:sp>
    </p:spTree>
    <p:extLst>
      <p:ext uri="{BB962C8B-B14F-4D97-AF65-F5344CB8AC3E}">
        <p14:creationId xmlns:p14="http://schemas.microsoft.com/office/powerpoint/2010/main" val="3655365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 smtClean="0"/>
              <a:t>Contact</a:t>
            </a:r>
            <a:r>
              <a:rPr lang="de-AT" dirty="0" smtClean="0"/>
              <a:t> </a:t>
            </a:r>
            <a:r>
              <a:rPr lang="de-AT" dirty="0" err="1" smtClean="0"/>
              <a:t>data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All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questions, user support and bug reports need to be handled via the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JIRA issue tracking in the </a:t>
            </a:r>
            <a:r>
              <a:rPr lang="en-US" sz="1600" dirty="0" err="1" smtClean="0">
                <a:latin typeface="Helvetica" panose="020B0604020202020204" pitchFamily="34" charset="0"/>
                <a:cs typeface="Helvetica" panose="020B0604020202020204" pitchFamily="34" charset="0"/>
              </a:rPr>
              <a:t>CITnet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service of the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EU-COM: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u="sng" dirty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https</a:t>
            </a:r>
            <a:r>
              <a:rPr lang="en-US" sz="16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://citnet.tech.ec.europa.eu/CITnet/jira/projects/VECTO/issues</a:t>
            </a:r>
            <a:endParaRPr lang="en-US" sz="1600" u="sng" dirty="0" smtClean="0">
              <a:solidFill>
                <a:srgbClr val="00B0F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Also future updates of the tool will be released only via this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platform: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4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https</a:t>
            </a:r>
            <a:r>
              <a:rPr lang="en-US" sz="14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://citnet.tech.ec.europa.eu/CITnet/confluence/display/VECTO/VECTO+Engine+Releases</a:t>
            </a:r>
            <a:endParaRPr lang="en-US" sz="1400" dirty="0" smtClean="0">
              <a:solidFill>
                <a:srgbClr val="00B0F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If you do not already have an account for this service please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contact: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JRC-VECTO@ec.europa.eu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 smtClean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056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905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ctr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de-AT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796</Words>
  <Application>Microsoft Office PowerPoint</Application>
  <PresentationFormat>Bildschirmpräsentation (4:3)</PresentationFormat>
  <Paragraphs>106</Paragraphs>
  <Slides>10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Arial</vt:lpstr>
      <vt:lpstr>Helvetica</vt:lpstr>
      <vt:lpstr>Times</vt:lpstr>
      <vt:lpstr>Verdana</vt:lpstr>
      <vt:lpstr>Wingdings</vt:lpstr>
      <vt:lpstr>Standarddesign</vt:lpstr>
      <vt:lpstr>VECTO Engine pre-processing tool  Short documentation and user manual</vt:lpstr>
      <vt:lpstr>VECTO Engine – GUI overview</vt:lpstr>
      <vt:lpstr>VECTO Engine – Operation via GUI</vt:lpstr>
      <vt:lpstr>VECTO Engine – Basic features</vt:lpstr>
      <vt:lpstr>VECTO Engine – Input files</vt:lpstr>
      <vt:lpstr>VECTO Engine – Output files</vt:lpstr>
      <vt:lpstr>VECTO Engine – Evaluation algorithms performed (p1/2)</vt:lpstr>
      <vt:lpstr>VECTO Engine – Evaluation algorithms performed (p2/2)</vt:lpstr>
      <vt:lpstr>VECTO Engine – Further important remarks</vt:lpstr>
      <vt:lpstr>Contact data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martinrexeis</dc:creator>
  <cp:lastModifiedBy>Silberholz Gerard</cp:lastModifiedBy>
  <cp:revision>1336</cp:revision>
  <cp:lastPrinted>2011-11-07T19:57:56Z</cp:lastPrinted>
  <dcterms:created xsi:type="dcterms:W3CDTF">2010-01-07T15:28:02Z</dcterms:created>
  <dcterms:modified xsi:type="dcterms:W3CDTF">2022-06-01T10:56:43Z</dcterms:modified>
</cp:coreProperties>
</file>