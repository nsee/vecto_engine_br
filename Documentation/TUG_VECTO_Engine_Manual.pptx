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497" r:id="rId2"/>
    <p:sldId id="546" r:id="rId3"/>
    <p:sldId id="585" r:id="rId4"/>
    <p:sldId id="578" r:id="rId5"/>
    <p:sldId id="579" r:id="rId6"/>
    <p:sldId id="580" r:id="rId7"/>
    <p:sldId id="586" r:id="rId8"/>
    <p:sldId id="587" r:id="rId9"/>
    <p:sldId id="588" r:id="rId10"/>
    <p:sldId id="589" r:id="rId11"/>
    <p:sldId id="590" r:id="rId12"/>
    <p:sldId id="582" r:id="rId13"/>
  </p:sldIdLst>
  <p:sldSz cx="9144000" cy="6858000" type="screen4x3"/>
  <p:notesSz cx="7104063" cy="10234613"/>
  <p:defaultTextStyle>
    <a:defPPr>
      <a:defRPr lang="de-AT"/>
    </a:defPPr>
    <a:lvl1pPr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Hausberger Stefan" initials="HS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CC"/>
    <a:srgbClr val="00DAB0"/>
    <a:srgbClr val="00FFCC"/>
    <a:srgbClr val="CCFF99"/>
    <a:srgbClr val="33CCFF"/>
    <a:srgbClr val="99FF99"/>
    <a:srgbClr val="FFCCCC"/>
    <a:srgbClr val="9900FF"/>
    <a:srgbClr val="00CC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Designformatvorlage 1 - Akz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87" autoAdjust="0"/>
    <p:restoredTop sz="90178" autoAdjust="0"/>
  </p:normalViewPr>
  <p:slideViewPr>
    <p:cSldViewPr>
      <p:cViewPr varScale="1">
        <p:scale>
          <a:sx n="118" d="100"/>
          <a:sy n="118" d="100"/>
        </p:scale>
        <p:origin x="84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185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fld id="{D05DC883-6C08-43D1-9D4B-869193C2D549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769111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l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313" y="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37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3775" y="768350"/>
            <a:ext cx="51165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4837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AT" noProof="0" smtClean="0"/>
              <a:t>Textmasterformate durch Klicken bearbeiten</a:t>
            </a:r>
          </a:p>
          <a:p>
            <a:pPr lvl="1"/>
            <a:r>
              <a:rPr lang="de-AT" noProof="0" smtClean="0"/>
              <a:t>Zweite Ebene</a:t>
            </a:r>
          </a:p>
          <a:p>
            <a:pPr lvl="2"/>
            <a:r>
              <a:rPr lang="de-AT" noProof="0" smtClean="0"/>
              <a:t>Dritte Ebene</a:t>
            </a:r>
          </a:p>
          <a:p>
            <a:pPr lvl="3"/>
            <a:r>
              <a:rPr lang="de-AT" noProof="0" smtClean="0"/>
              <a:t>Vierte Ebene</a:t>
            </a:r>
          </a:p>
          <a:p>
            <a:pPr lvl="4"/>
            <a:r>
              <a:rPr lang="de-AT" noProof="0" smtClean="0"/>
              <a:t>Fünfte Ebene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l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313" y="972185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fld id="{8335CF79-0E4B-49EE-B3D5-651E591A0B8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7040662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0961ED-B8B5-4C64-9727-6F12A830C91B}" type="slidenum">
              <a:rPr lang="en-GB" altLang="en-US" smtClean="0"/>
              <a:pPr/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196098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92310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422498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646209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691659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Example for warnings:</a:t>
            </a:r>
          </a:p>
          <a:p>
            <a:r>
              <a:rPr lang="en-US" smtClean="0"/>
              <a:t>Significant drop</a:t>
            </a:r>
            <a:r>
              <a:rPr lang="en-US" baseline="0" smtClean="0"/>
              <a:t> of torque in fld recording (might be not reasonable at low speeds, might be reasonable at n&gt;hi) </a:t>
            </a:r>
            <a:endParaRPr lang="en-US" dirty="0" smtClean="0"/>
          </a:p>
          <a:p>
            <a:endParaRPr lang="en-US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0961ED-B8B5-4C64-9727-6F12A830C91B}" type="slidenum">
              <a:rPr lang="en-GB" altLang="en-US" smtClean="0"/>
              <a:pPr/>
              <a:t>11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05255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57079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1252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95738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68313" y="1582738"/>
            <a:ext cx="4032250" cy="4543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52963" y="1582738"/>
            <a:ext cx="4033837" cy="4543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9265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89680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85824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36204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6046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de-AT" noProof="0" smtClean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44828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319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32575" y="714375"/>
            <a:ext cx="2054225" cy="541178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68313" y="714375"/>
            <a:ext cx="6011862" cy="5411788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266897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468313" y="714375"/>
            <a:ext cx="8218487" cy="5411788"/>
          </a:xfr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60228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313" y="714375"/>
            <a:ext cx="8218487" cy="681038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468313" y="1582738"/>
            <a:ext cx="8218487" cy="4543425"/>
          </a:xfrm>
        </p:spPr>
        <p:txBody>
          <a:bodyPr/>
          <a:lstStyle/>
          <a:p>
            <a:pPr lvl="0"/>
            <a:endParaRPr lang="de-AT" noProof="0" smtClean="0"/>
          </a:p>
        </p:txBody>
      </p:sp>
    </p:spTree>
    <p:extLst>
      <p:ext uri="{BB962C8B-B14F-4D97-AF65-F5344CB8AC3E}">
        <p14:creationId xmlns:p14="http://schemas.microsoft.com/office/powerpoint/2010/main" val="3658998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95423"/>
            <a:ext cx="8218487" cy="681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DDDDDD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de-DE" dirty="0" smtClean="0"/>
          </a:p>
        </p:txBody>
      </p:sp>
      <p:sp>
        <p:nvSpPr>
          <p:cNvPr id="1029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582738"/>
            <a:ext cx="8218487" cy="454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DDDDDD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AT" smtClean="0"/>
              <a:t>Erste Ebene</a:t>
            </a:r>
          </a:p>
          <a:p>
            <a:pPr lvl="1"/>
            <a:r>
              <a:rPr lang="de-AT" smtClean="0"/>
              <a:t>Zweite Ebene</a:t>
            </a:r>
          </a:p>
          <a:p>
            <a:pPr lvl="2"/>
            <a:r>
              <a:rPr lang="de-AT" smtClean="0"/>
              <a:t>Dritte Ebene</a:t>
            </a:r>
          </a:p>
          <a:p>
            <a:pPr lvl="3"/>
            <a:r>
              <a:rPr lang="de-AT" smtClean="0"/>
              <a:t>Vierte Ebene</a:t>
            </a:r>
          </a:p>
          <a:p>
            <a:pPr lvl="4"/>
            <a:r>
              <a:rPr lang="de-AT" smtClean="0"/>
              <a:t>Fünfte Ebene</a:t>
            </a:r>
          </a:p>
        </p:txBody>
      </p:sp>
      <p:sp>
        <p:nvSpPr>
          <p:cNvPr id="1030" name="Text Box 24"/>
          <p:cNvSpPr txBox="1">
            <a:spLocks noChangeArrowheads="1"/>
          </p:cNvSpPr>
          <p:nvPr/>
        </p:nvSpPr>
        <p:spPr bwMode="auto">
          <a:xfrm>
            <a:off x="7996238" y="6599238"/>
            <a:ext cx="925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F754889F-290A-4ED1-8905-D84A8ECF4D9C}" type="slidenum">
              <a:rPr lang="de-AT" sz="1000" smtClean="0">
                <a:solidFill>
                  <a:srgbClr val="7D7D7D"/>
                </a:solidFill>
                <a:latin typeface="Verdana" pitchFamily="34" charset="0"/>
              </a:rPr>
              <a:pPr algn="r" eaLnBrk="1" hangingPunct="1">
                <a:spcBef>
                  <a:spcPct val="50000"/>
                </a:spcBef>
                <a:defRPr/>
              </a:pPr>
              <a:t>‹Nr.›</a:t>
            </a:fld>
            <a:endParaRPr lang="de-AT" sz="1000" smtClean="0">
              <a:solidFill>
                <a:srgbClr val="7D7D7D"/>
              </a:solidFill>
              <a:latin typeface="Verdana" pitchFamily="34" charset="0"/>
            </a:endParaRPr>
          </a:p>
        </p:txBody>
      </p:sp>
      <p:sp>
        <p:nvSpPr>
          <p:cNvPr id="1031" name="Rectangle 25"/>
          <p:cNvSpPr>
            <a:spLocks noChangeArrowheads="1"/>
          </p:cNvSpPr>
          <p:nvPr/>
        </p:nvSpPr>
        <p:spPr bwMode="auto">
          <a:xfrm>
            <a:off x="0" y="6373813"/>
            <a:ext cx="9144000" cy="215900"/>
          </a:xfrm>
          <a:prstGeom prst="rect">
            <a:avLst/>
          </a:prstGeom>
          <a:solidFill>
            <a:srgbClr val="DDDDDD"/>
          </a:solidFill>
          <a:ln w="6350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tIns="39600" anchor="ctr"/>
          <a:lstStyle/>
          <a:p>
            <a:pPr algn="l">
              <a:spcBef>
                <a:spcPct val="0"/>
              </a:spcBef>
            </a:pPr>
            <a:endParaRPr lang="en-GB" sz="1200">
              <a:latin typeface="Verdana" pitchFamily="34" charset="0"/>
            </a:endParaRPr>
          </a:p>
        </p:txBody>
      </p:sp>
      <p:sp>
        <p:nvSpPr>
          <p:cNvPr id="1037" name="Text Box 31"/>
          <p:cNvSpPr txBox="1">
            <a:spLocks noChangeArrowheads="1"/>
          </p:cNvSpPr>
          <p:nvPr/>
        </p:nvSpPr>
        <p:spPr bwMode="auto">
          <a:xfrm>
            <a:off x="5940425" y="6373813"/>
            <a:ext cx="2895600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tIns="39600" anchor="ctr"/>
          <a:lstStyle>
            <a:lvl1pPr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r>
              <a:rPr lang="en-GB" sz="1100" b="0" dirty="0" smtClean="0">
                <a:latin typeface="Verdana" pitchFamily="34" charset="0"/>
              </a:rPr>
              <a:t>HDV CO</a:t>
            </a:r>
            <a:r>
              <a:rPr lang="en-GB" sz="1100" b="0" baseline="-25000" dirty="0" smtClean="0">
                <a:latin typeface="Verdana" pitchFamily="34" charset="0"/>
              </a:rPr>
              <a:t>2</a:t>
            </a:r>
            <a:r>
              <a:rPr lang="en-GB" sz="1100" b="0" dirty="0" smtClean="0">
                <a:latin typeface="Verdana" pitchFamily="34" charset="0"/>
              </a:rPr>
              <a:t> test procedure – VECTO Engine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288" y="89807"/>
            <a:ext cx="1979712" cy="49163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iming>
    <p:tnLst>
      <p:par>
        <p:cTn id="1" dur="indefinite" restart="never" nodeType="tmRoot"/>
      </p:par>
    </p:tnLst>
  </p:timing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2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2" y="1124744"/>
            <a:ext cx="8640960" cy="792088"/>
          </a:xfrm>
        </p:spPr>
        <p:txBody>
          <a:bodyPr/>
          <a:lstStyle/>
          <a:p>
            <a:pPr algn="ctr"/>
            <a:r>
              <a:rPr lang="en-US" sz="2800" dirty="0" smtClean="0"/>
              <a:t>VECTO Engine</a:t>
            </a:r>
            <a:br>
              <a:rPr lang="en-US" sz="2800" dirty="0" smtClean="0"/>
            </a:br>
            <a:r>
              <a:rPr lang="en-US" sz="2800" dirty="0" smtClean="0"/>
              <a:t/>
            </a:r>
            <a:br>
              <a:rPr lang="en-US" sz="2800" dirty="0" smtClean="0"/>
            </a:br>
            <a:r>
              <a:rPr lang="en-US" sz="2800" dirty="0" smtClean="0"/>
              <a:t>Short documentation and user manual</a:t>
            </a:r>
            <a:endParaRPr lang="en-US" sz="2800" dirty="0"/>
          </a:p>
        </p:txBody>
      </p:sp>
      <p:sp>
        <p:nvSpPr>
          <p:cNvPr id="4" name="Rechteck 3"/>
          <p:cNvSpPr/>
          <p:nvPr/>
        </p:nvSpPr>
        <p:spPr>
          <a:xfrm>
            <a:off x="323528" y="2420888"/>
            <a:ext cx="8280920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 smtClean="0">
                <a:sym typeface="Wingdings" panose="05000000000000000000" pitchFamily="2" charset="2"/>
              </a:rPr>
              <a:t>App Version 1.4</a:t>
            </a:r>
            <a:r>
              <a:rPr lang="en-US" sz="2400" dirty="0" smtClean="0">
                <a:sym typeface="Wingdings" panose="05000000000000000000" pitchFamily="2" charset="2"/>
              </a:rPr>
              <a:t>.*</a:t>
            </a:r>
            <a:endParaRPr lang="en-US" sz="2400" dirty="0" smtClean="0"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1800" dirty="0" smtClean="0">
                <a:sym typeface="Wingdings" panose="05000000000000000000" pitchFamily="2" charset="2"/>
              </a:rPr>
              <a:t>20.12.2018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4608" y="3831328"/>
            <a:ext cx="3798831" cy="1973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945516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4" y="950535"/>
            <a:ext cx="5488881" cy="5303294"/>
          </a:xfrm>
          <a:prstGeom prst="rect">
            <a:avLst/>
          </a:prstGeom>
        </p:spPr>
      </p:pic>
      <p:sp>
        <p:nvSpPr>
          <p:cNvPr id="15" name="Legende mit Linie 1 (Markierungsleiste) 14"/>
          <p:cNvSpPr/>
          <p:nvPr/>
        </p:nvSpPr>
        <p:spPr bwMode="auto">
          <a:xfrm>
            <a:off x="6660232" y="4564017"/>
            <a:ext cx="2376000" cy="683264"/>
          </a:xfrm>
          <a:prstGeom prst="accentCallout1">
            <a:avLst>
              <a:gd name="adj1" fmla="val 56216"/>
              <a:gd name="adj2" fmla="val -2353"/>
              <a:gd name="adj3" fmla="val -13902"/>
              <a:gd name="adj4" fmla="val -152263"/>
            </a:avLst>
          </a:prstGeom>
          <a:noFill/>
          <a:ln w="19050" cap="flat" cmpd="sng" algn="ctr">
            <a:solidFill>
              <a:srgbClr val="FF33CC"/>
            </a:solidFill>
            <a:prstDash val="solid"/>
            <a:round/>
            <a:headEnd type="none" w="med" len="med"/>
            <a:tailEnd type="oval" w="med" len="med"/>
          </a:ln>
          <a:effectLst/>
          <a:extLst/>
        </p:spPr>
        <p:txBody>
          <a:bodyPr vert="horz" wrap="square" lIns="32400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smtClean="0">
                <a:latin typeface="Arial" pitchFamily="34" charset="0"/>
              </a:rPr>
              <a:t>Press </a:t>
            </a:r>
            <a:r>
              <a:rPr lang="de-AT" sz="1000" b="0" dirty="0" smtClean="0">
                <a:latin typeface="Arial" pitchFamily="34" charset="0"/>
              </a:rPr>
              <a:t>„Start“ </a:t>
            </a:r>
            <a:r>
              <a:rPr lang="de-AT" sz="1000" b="0" dirty="0" err="1" smtClean="0">
                <a:latin typeface="Arial" pitchFamily="34" charset="0"/>
              </a:rPr>
              <a:t>button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for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full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evaluation</a:t>
            </a:r>
            <a:endParaRPr lang="de-AT" sz="10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(OR press </a:t>
            </a:r>
            <a:r>
              <a:rPr kumimoji="0" lang="de-AT" sz="8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other</a:t>
            </a:r>
            <a:r>
              <a:rPr kumimoji="0" lang="de-AT" sz="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button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to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precalculate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grid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for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fuel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map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from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CO2-parent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full-load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8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curve</a:t>
            </a:r>
            <a:r>
              <a:rPr kumimoji="0" lang="de-AT" sz="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)</a:t>
            </a:r>
            <a:endParaRPr kumimoji="0" lang="en-US" sz="8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 smtClean="0"/>
              <a:t>VECTO Engine – GUI</a:t>
            </a:r>
            <a:endParaRPr lang="en-US" dirty="0"/>
          </a:p>
        </p:txBody>
      </p:sp>
      <p:sp>
        <p:nvSpPr>
          <p:cNvPr id="4" name="Rechteck 3"/>
          <p:cNvSpPr/>
          <p:nvPr/>
        </p:nvSpPr>
        <p:spPr bwMode="auto">
          <a:xfrm>
            <a:off x="255788" y="1182450"/>
            <a:ext cx="5316466" cy="1584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ysDash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8" name="Legende mit Linie 1 (Markierungsleiste) 7"/>
          <p:cNvSpPr/>
          <p:nvPr/>
        </p:nvSpPr>
        <p:spPr bwMode="auto">
          <a:xfrm>
            <a:off x="6660232" y="1861556"/>
            <a:ext cx="2376000" cy="707886"/>
          </a:xfrm>
          <a:prstGeom prst="accentCallout1">
            <a:avLst>
              <a:gd name="adj1" fmla="val 56216"/>
              <a:gd name="adj2" fmla="val -2353"/>
              <a:gd name="adj3" fmla="val 191410"/>
              <a:gd name="adj4" fmla="val -43128"/>
            </a:avLst>
          </a:prstGeom>
          <a:noFill/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32400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smtClean="0">
                <a:latin typeface="Arial" pitchFamily="34" charset="0"/>
              </a:rPr>
              <a:t>Load </a:t>
            </a:r>
            <a:r>
              <a:rPr lang="de-AT" sz="1000" b="0" dirty="0" smtClean="0">
                <a:latin typeface="Arial" pitchFamily="34" charset="0"/>
              </a:rPr>
              <a:t>all </a:t>
            </a:r>
            <a:r>
              <a:rPr lang="de-AT" sz="1000" b="0" dirty="0" err="1" smtClean="0">
                <a:latin typeface="Arial" pitchFamily="34" charset="0"/>
              </a:rPr>
              <a:t>required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input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files</a:t>
            </a:r>
            <a:r>
              <a:rPr lang="de-AT" sz="1000" b="0" dirty="0" smtClean="0">
                <a:latin typeface="Arial" pitchFamily="34" charset="0"/>
              </a:rPr>
              <a:t> via separate open </a:t>
            </a:r>
            <a:r>
              <a:rPr lang="de-AT" sz="1000" b="0" dirty="0" err="1" smtClean="0">
                <a:latin typeface="Arial" pitchFamily="34" charset="0"/>
              </a:rPr>
              <a:t>file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buttons</a:t>
            </a:r>
            <a:r>
              <a:rPr lang="de-AT" sz="1000" b="0" dirty="0">
                <a:latin typeface="Arial" pitchFamily="34" charset="0"/>
              </a:rPr>
              <a:t/>
            </a:r>
            <a:br>
              <a:rPr lang="de-AT" sz="1000" b="0" dirty="0">
                <a:latin typeface="Arial" pitchFamily="34" charset="0"/>
              </a:rPr>
            </a:br>
            <a:r>
              <a:rPr lang="de-AT" sz="1000" b="0" dirty="0" smtClean="0">
                <a:latin typeface="Arial" pitchFamily="34" charset="0"/>
              </a:rPr>
              <a:t>(</a:t>
            </a:r>
            <a:r>
              <a:rPr lang="de-AT" sz="1000" b="0" dirty="0" err="1" smtClean="0">
                <a:latin typeface="Arial" pitchFamily="34" charset="0"/>
              </a:rPr>
              <a:t>for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file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format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please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see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demo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files</a:t>
            </a:r>
            <a:r>
              <a:rPr lang="de-AT" sz="1000" b="0" dirty="0" smtClean="0">
                <a:latin typeface="Arial" pitchFamily="34" charset="0"/>
              </a:rPr>
              <a:t>)</a:t>
            </a:r>
            <a:endParaRPr kumimoji="0" lang="en-US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14" name="Legende mit Linie 1 (Markierungsleiste) 13"/>
          <p:cNvSpPr/>
          <p:nvPr/>
        </p:nvSpPr>
        <p:spPr bwMode="auto">
          <a:xfrm>
            <a:off x="6660232" y="3695506"/>
            <a:ext cx="2376000" cy="648000"/>
          </a:xfrm>
          <a:prstGeom prst="accentCallout1">
            <a:avLst>
              <a:gd name="adj1" fmla="val 56216"/>
              <a:gd name="adj2" fmla="val -2353"/>
              <a:gd name="adj3" fmla="val 172152"/>
              <a:gd name="adj4" fmla="val -43145"/>
            </a:avLst>
          </a:prstGeom>
          <a:noFill/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32400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err="1" smtClean="0">
                <a:latin typeface="Arial" pitchFamily="34" charset="0"/>
              </a:rPr>
              <a:t>Define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directory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where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output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files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are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stored</a:t>
            </a:r>
            <a:r>
              <a:rPr lang="de-AT" sz="1000" b="0" dirty="0" smtClean="0">
                <a:latin typeface="Arial" pitchFamily="34" charset="0"/>
              </a:rPr>
              <a:t> </a:t>
            </a:r>
            <a:endParaRPr kumimoji="0" lang="en-US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17" name="Rechteck 16"/>
          <p:cNvSpPr/>
          <p:nvPr/>
        </p:nvSpPr>
        <p:spPr bwMode="auto">
          <a:xfrm>
            <a:off x="255788" y="4982088"/>
            <a:ext cx="5316466" cy="1008000"/>
          </a:xfrm>
          <a:prstGeom prst="rect">
            <a:avLst/>
          </a:prstGeom>
          <a:solidFill>
            <a:srgbClr val="00B050">
              <a:alpha val="15000"/>
            </a:srgbClr>
          </a:solidFill>
          <a:ln w="25400" cap="flat" cmpd="sng" algn="ctr">
            <a:solidFill>
              <a:srgbClr val="00B050"/>
            </a:solidFill>
            <a:prstDash val="sysDash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18" name="Legende mit Linie 1 (Markierungsleiste) 17"/>
          <p:cNvSpPr/>
          <p:nvPr/>
        </p:nvSpPr>
        <p:spPr bwMode="auto">
          <a:xfrm>
            <a:off x="6660232" y="5542429"/>
            <a:ext cx="2376000" cy="646331"/>
          </a:xfrm>
          <a:prstGeom prst="accentCallout1">
            <a:avLst>
              <a:gd name="adj1" fmla="val 56216"/>
              <a:gd name="adj2" fmla="val -2353"/>
              <a:gd name="adj3" fmla="val -794"/>
              <a:gd name="adj4" fmla="val -43620"/>
            </a:avLst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10800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smtClean="0">
                <a:solidFill>
                  <a:srgbClr val="00B050"/>
                </a:solidFill>
                <a:latin typeface="Arial" pitchFamily="34" charset="0"/>
              </a:rPr>
              <a:t>„Message“ </a:t>
            </a:r>
            <a:r>
              <a:rPr lang="de-AT" sz="1000" b="0" dirty="0" err="1" smtClean="0">
                <a:solidFill>
                  <a:srgbClr val="00B050"/>
                </a:solidFill>
                <a:latin typeface="Arial" pitchFamily="34" charset="0"/>
              </a:rPr>
              <a:t>window</a:t>
            </a:r>
            <a:r>
              <a:rPr lang="de-AT" sz="1000" b="0" dirty="0" smtClean="0">
                <a:solidFill>
                  <a:srgbClr val="00B050"/>
                </a:solidFill>
                <a:latin typeface="Arial" pitchFamily="34" charset="0"/>
              </a:rPr>
              <a:t> will </a:t>
            </a:r>
            <a:r>
              <a:rPr lang="de-AT" sz="1000" b="0" dirty="0" err="1" smtClean="0">
                <a:solidFill>
                  <a:srgbClr val="00B050"/>
                </a:solidFill>
                <a:latin typeface="Arial" pitchFamily="34" charset="0"/>
              </a:rPr>
              <a:t>display</a:t>
            </a:r>
            <a:endParaRPr lang="de-AT" sz="1000" b="0" dirty="0">
              <a:solidFill>
                <a:srgbClr val="00B050"/>
              </a:solidFill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err="1" smtClean="0">
                <a:solidFill>
                  <a:srgbClr val="00B050"/>
                </a:solidFill>
                <a:latin typeface="Arial" pitchFamily="34" charset="0"/>
              </a:rPr>
              <a:t>errors</a:t>
            </a:r>
            <a:r>
              <a:rPr lang="de-AT" sz="1000" b="0" dirty="0" smtClean="0">
                <a:solidFill>
                  <a:srgbClr val="00B050"/>
                </a:solidFill>
                <a:latin typeface="Arial" pitchFamily="34" charset="0"/>
              </a:rPr>
              <a:t> (</a:t>
            </a:r>
            <a:r>
              <a:rPr lang="de-AT" sz="1000" b="0" dirty="0" err="1" smtClean="0">
                <a:solidFill>
                  <a:srgbClr val="00B050"/>
                </a:solidFill>
                <a:latin typeface="Arial" pitchFamily="34" charset="0"/>
              </a:rPr>
              <a:t>red</a:t>
            </a:r>
            <a:r>
              <a:rPr lang="de-AT" sz="1000" b="0" dirty="0" smtClean="0">
                <a:solidFill>
                  <a:srgbClr val="00B050"/>
                </a:solidFill>
                <a:latin typeface="Arial" pitchFamily="34" charset="0"/>
              </a:rPr>
              <a:t>), </a:t>
            </a:r>
            <a:r>
              <a:rPr lang="de-AT" sz="1000" b="0" dirty="0" err="1" smtClean="0">
                <a:solidFill>
                  <a:srgbClr val="00B050"/>
                </a:solidFill>
                <a:latin typeface="Arial" pitchFamily="34" charset="0"/>
              </a:rPr>
              <a:t>warnings</a:t>
            </a:r>
            <a:r>
              <a:rPr lang="de-AT" sz="1000" b="0" dirty="0" smtClean="0">
                <a:solidFill>
                  <a:srgbClr val="00B050"/>
                </a:solidFill>
                <a:latin typeface="Arial" pitchFamily="34" charset="0"/>
              </a:rPr>
              <a:t> (orange),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err="1" smtClean="0">
                <a:solidFill>
                  <a:srgbClr val="00B050"/>
                </a:solidFill>
                <a:latin typeface="Arial" pitchFamily="34" charset="0"/>
              </a:rPr>
              <a:t>informations</a:t>
            </a:r>
            <a:r>
              <a:rPr lang="de-AT" sz="1000" b="0" dirty="0" smtClean="0">
                <a:solidFill>
                  <a:srgbClr val="00B050"/>
                </a:solidFill>
                <a:latin typeface="Arial" pitchFamily="34" charset="0"/>
              </a:rPr>
              <a:t> </a:t>
            </a:r>
            <a:r>
              <a:rPr lang="de-AT" sz="1000" b="0" dirty="0" err="1" smtClean="0">
                <a:solidFill>
                  <a:srgbClr val="00B050"/>
                </a:solidFill>
                <a:latin typeface="Arial" pitchFamily="34" charset="0"/>
              </a:rPr>
              <a:t>and</a:t>
            </a:r>
            <a:r>
              <a:rPr lang="de-AT" sz="1000" b="0" dirty="0" smtClean="0">
                <a:solidFill>
                  <a:srgbClr val="00B050"/>
                </a:solidFill>
                <a:latin typeface="Arial" pitchFamily="34" charset="0"/>
              </a:rPr>
              <a:t> </a:t>
            </a:r>
            <a:r>
              <a:rPr lang="de-AT" sz="1000" b="0" dirty="0" err="1" smtClean="0">
                <a:solidFill>
                  <a:srgbClr val="00B050"/>
                </a:solidFill>
                <a:latin typeface="Arial" pitchFamily="34" charset="0"/>
              </a:rPr>
              <a:t>results</a:t>
            </a:r>
            <a:endParaRPr kumimoji="0" lang="en-US" sz="1000" b="0" i="0" u="none" strike="noStrike" cap="none" normalizeH="0" baseline="0" dirty="0" smtClean="0">
              <a:ln>
                <a:noFill/>
              </a:ln>
              <a:solidFill>
                <a:srgbClr val="00B050"/>
              </a:solidFill>
              <a:effectLst/>
              <a:latin typeface="Arial" pitchFamily="34" charset="0"/>
            </a:endParaRPr>
          </a:p>
        </p:txBody>
      </p:sp>
      <p:sp>
        <p:nvSpPr>
          <p:cNvPr id="16" name="Rechteck 15"/>
          <p:cNvSpPr/>
          <p:nvPr/>
        </p:nvSpPr>
        <p:spPr bwMode="auto">
          <a:xfrm>
            <a:off x="5220072" y="2925366"/>
            <a:ext cx="352182" cy="612000"/>
          </a:xfrm>
          <a:prstGeom prst="rect">
            <a:avLst/>
          </a:prstGeom>
          <a:solidFill>
            <a:srgbClr val="7030A0">
              <a:alpha val="15000"/>
            </a:srgbClr>
          </a:solidFill>
          <a:ln w="25400" cap="flat" cmpd="sng" algn="ctr">
            <a:solidFill>
              <a:srgbClr val="7030A0"/>
            </a:solidFill>
            <a:prstDash val="sysDash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255788" y="3589612"/>
            <a:ext cx="5316466" cy="648000"/>
          </a:xfrm>
          <a:prstGeom prst="rect">
            <a:avLst/>
          </a:prstGeom>
          <a:solidFill>
            <a:srgbClr val="00B0F0">
              <a:alpha val="15000"/>
            </a:srgbClr>
          </a:solidFill>
          <a:ln w="25400" cap="flat" cmpd="sng" algn="ctr">
            <a:solidFill>
              <a:srgbClr val="00B0F0"/>
            </a:solidFill>
            <a:prstDash val="sysDash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0" name="Legende mit Linie 1 (Markierungsleiste) 19"/>
          <p:cNvSpPr/>
          <p:nvPr/>
        </p:nvSpPr>
        <p:spPr bwMode="auto">
          <a:xfrm>
            <a:off x="6660232" y="2835861"/>
            <a:ext cx="2376000" cy="648000"/>
          </a:xfrm>
          <a:prstGeom prst="accentCallout1">
            <a:avLst>
              <a:gd name="adj1" fmla="val 56216"/>
              <a:gd name="adj2" fmla="val -2353"/>
              <a:gd name="adj3" fmla="val 165437"/>
              <a:gd name="adj4" fmla="val -43029"/>
            </a:avLst>
          </a:prstGeom>
          <a:noFill/>
          <a:ln w="190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32400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smtClean="0">
                <a:latin typeface="Arial" pitchFamily="34" charset="0"/>
              </a:rPr>
              <a:t>Input </a:t>
            </a:r>
            <a:r>
              <a:rPr lang="de-AT" sz="1000" b="0" dirty="0" err="1" smtClean="0">
                <a:latin typeface="Arial" pitchFamily="34" charset="0"/>
              </a:rPr>
              <a:t>measured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specific</a:t>
            </a:r>
            <a:r>
              <a:rPr lang="de-AT" sz="1000" b="0" dirty="0" smtClean="0">
                <a:latin typeface="Arial" pitchFamily="34" charset="0"/>
              </a:rPr>
              <a:t> FC </a:t>
            </a:r>
            <a:r>
              <a:rPr lang="de-AT" sz="1000" b="0" dirty="0" err="1" smtClean="0">
                <a:latin typeface="Arial" pitchFamily="34" charset="0"/>
              </a:rPr>
              <a:t>values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and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correction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factor</a:t>
            </a:r>
            <a:endParaRPr kumimoji="0" lang="en-US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1" name="Legende mit Linie 1 (Markierungsleiste) 20"/>
          <p:cNvSpPr/>
          <p:nvPr/>
        </p:nvSpPr>
        <p:spPr bwMode="auto">
          <a:xfrm>
            <a:off x="6660232" y="953295"/>
            <a:ext cx="2376000" cy="646331"/>
          </a:xfrm>
          <a:prstGeom prst="accentCallout1">
            <a:avLst>
              <a:gd name="adj1" fmla="val 56216"/>
              <a:gd name="adj2" fmla="val -2353"/>
              <a:gd name="adj3" fmla="val 157255"/>
              <a:gd name="adj4" fmla="val -43117"/>
            </a:avLst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32400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smtClean="0">
                <a:latin typeface="Arial" pitchFamily="34" charset="0"/>
              </a:rPr>
              <a:t>Input </a:t>
            </a:r>
            <a:r>
              <a:rPr lang="de-AT" sz="1000" b="0" dirty="0" smtClean="0">
                <a:latin typeface="Arial" pitchFamily="34" charset="0"/>
              </a:rPr>
              <a:t>all </a:t>
            </a:r>
            <a:r>
              <a:rPr lang="de-AT" sz="1000" b="0" dirty="0" err="1" smtClean="0">
                <a:latin typeface="Arial" pitchFamily="34" charset="0"/>
              </a:rPr>
              <a:t>component</a:t>
            </a:r>
            <a:r>
              <a:rPr lang="de-AT" sz="1000" b="0" dirty="0" smtClean="0">
                <a:latin typeface="Arial" pitchFamily="34" charset="0"/>
              </a:rPr>
              <a:t> </a:t>
            </a:r>
            <a:r>
              <a:rPr lang="de-AT" sz="1000" b="0" dirty="0" err="1" smtClean="0">
                <a:latin typeface="Arial" pitchFamily="34" charset="0"/>
              </a:rPr>
              <a:t>data</a:t>
            </a:r>
            <a:endParaRPr lang="de-AT" sz="10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AT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2" name="Rechteck 21"/>
          <p:cNvSpPr/>
          <p:nvPr/>
        </p:nvSpPr>
        <p:spPr bwMode="auto">
          <a:xfrm>
            <a:off x="5227488" y="4680580"/>
            <a:ext cx="352182" cy="252000"/>
          </a:xfrm>
          <a:prstGeom prst="rect">
            <a:avLst/>
          </a:prstGeom>
          <a:solidFill>
            <a:srgbClr val="FFC000">
              <a:alpha val="15000"/>
            </a:srgbClr>
          </a:solidFill>
          <a:ln w="25400" cap="flat" cmpd="sng" algn="ctr">
            <a:solidFill>
              <a:srgbClr val="FFC000"/>
            </a:solidFill>
            <a:prstDash val="sysDash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6543685" y="803085"/>
            <a:ext cx="430887" cy="93610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de-AT" dirty="0" err="1" smtClean="0">
                <a:solidFill>
                  <a:srgbClr val="FF0000"/>
                </a:solidFill>
              </a:rPr>
              <a:t>Step</a:t>
            </a:r>
            <a:r>
              <a:rPr lang="de-AT" dirty="0" smtClean="0">
                <a:solidFill>
                  <a:srgbClr val="FF0000"/>
                </a:solidFill>
              </a:rPr>
              <a:t> 1</a:t>
            </a:r>
            <a:endParaRPr lang="de-AT" dirty="0">
              <a:solidFill>
                <a:srgbClr val="FF0000"/>
              </a:solidFill>
            </a:endParaRPr>
          </a:p>
        </p:txBody>
      </p:sp>
      <p:sp>
        <p:nvSpPr>
          <p:cNvPr id="23" name="Textfeld 22"/>
          <p:cNvSpPr txBox="1"/>
          <p:nvPr/>
        </p:nvSpPr>
        <p:spPr>
          <a:xfrm>
            <a:off x="6543686" y="1747447"/>
            <a:ext cx="430887" cy="93610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de-AT" dirty="0" err="1" smtClean="0">
                <a:solidFill>
                  <a:srgbClr val="7030A0"/>
                </a:solidFill>
              </a:rPr>
              <a:t>Step</a:t>
            </a:r>
            <a:r>
              <a:rPr lang="de-AT" dirty="0" smtClean="0">
                <a:solidFill>
                  <a:srgbClr val="7030A0"/>
                </a:solidFill>
              </a:rPr>
              <a:t> 2</a:t>
            </a:r>
            <a:endParaRPr lang="de-AT" dirty="0">
              <a:solidFill>
                <a:srgbClr val="7030A0"/>
              </a:solidFill>
            </a:endParaRPr>
          </a:p>
        </p:txBody>
      </p:sp>
      <p:sp>
        <p:nvSpPr>
          <p:cNvPr id="24" name="Textfeld 23"/>
          <p:cNvSpPr txBox="1"/>
          <p:nvPr/>
        </p:nvSpPr>
        <p:spPr>
          <a:xfrm>
            <a:off x="6548113" y="2691809"/>
            <a:ext cx="430887" cy="93610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de-AT" dirty="0" err="1" smtClean="0">
                <a:solidFill>
                  <a:srgbClr val="00B0F0"/>
                </a:solidFill>
              </a:rPr>
              <a:t>Step</a:t>
            </a:r>
            <a:r>
              <a:rPr lang="de-AT" dirty="0" smtClean="0">
                <a:solidFill>
                  <a:srgbClr val="00B0F0"/>
                </a:solidFill>
              </a:rPr>
              <a:t> 3</a:t>
            </a:r>
            <a:endParaRPr lang="de-AT" dirty="0">
              <a:solidFill>
                <a:srgbClr val="00B0F0"/>
              </a:solidFill>
            </a:endParaRPr>
          </a:p>
        </p:txBody>
      </p:sp>
      <p:sp>
        <p:nvSpPr>
          <p:cNvPr id="25" name="Textfeld 24"/>
          <p:cNvSpPr txBox="1"/>
          <p:nvPr/>
        </p:nvSpPr>
        <p:spPr>
          <a:xfrm>
            <a:off x="6549920" y="3555905"/>
            <a:ext cx="430887" cy="93610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de-AT" dirty="0" err="1" smtClean="0">
                <a:solidFill>
                  <a:srgbClr val="FFC000"/>
                </a:solidFill>
              </a:rPr>
              <a:t>Step</a:t>
            </a:r>
            <a:r>
              <a:rPr lang="de-AT" dirty="0" smtClean="0">
                <a:solidFill>
                  <a:srgbClr val="FFC000"/>
                </a:solidFill>
              </a:rPr>
              <a:t> 4</a:t>
            </a:r>
            <a:endParaRPr lang="de-AT" dirty="0">
              <a:solidFill>
                <a:srgbClr val="FFC000"/>
              </a:solidFill>
            </a:endParaRPr>
          </a:p>
        </p:txBody>
      </p:sp>
      <p:sp>
        <p:nvSpPr>
          <p:cNvPr id="26" name="Textfeld 25"/>
          <p:cNvSpPr txBox="1"/>
          <p:nvPr/>
        </p:nvSpPr>
        <p:spPr>
          <a:xfrm>
            <a:off x="6543684" y="4437597"/>
            <a:ext cx="430887" cy="936104"/>
          </a:xfrm>
          <a:prstGeom prst="rect">
            <a:avLst/>
          </a:prstGeom>
          <a:noFill/>
          <a:ln>
            <a:noFill/>
          </a:ln>
        </p:spPr>
        <p:txBody>
          <a:bodyPr vert="vert270" wrap="square" rtlCol="0">
            <a:spAutoFit/>
          </a:bodyPr>
          <a:lstStyle/>
          <a:p>
            <a:r>
              <a:rPr lang="de-AT" dirty="0" err="1" smtClean="0">
                <a:solidFill>
                  <a:srgbClr val="FF33CC"/>
                </a:solidFill>
              </a:rPr>
              <a:t>Step</a:t>
            </a:r>
            <a:r>
              <a:rPr lang="de-AT" dirty="0" smtClean="0">
                <a:solidFill>
                  <a:srgbClr val="FF33CC"/>
                </a:solidFill>
              </a:rPr>
              <a:t> 5</a:t>
            </a:r>
            <a:endParaRPr lang="de-AT" dirty="0">
              <a:solidFill>
                <a:srgbClr val="FF33CC"/>
              </a:solidFill>
            </a:endParaRPr>
          </a:p>
        </p:txBody>
      </p:sp>
      <p:sp>
        <p:nvSpPr>
          <p:cNvPr id="28" name="Legende mit Linie 1 (Markierungsleiste) 17"/>
          <p:cNvSpPr/>
          <p:nvPr/>
        </p:nvSpPr>
        <p:spPr bwMode="auto">
          <a:xfrm>
            <a:off x="2196000" y="6069840"/>
            <a:ext cx="2376000" cy="246221"/>
          </a:xfrm>
          <a:prstGeom prst="accentCallout1">
            <a:avLst>
              <a:gd name="adj1" fmla="val 56216"/>
              <a:gd name="adj2" fmla="val -2353"/>
              <a:gd name="adj3" fmla="val 24558"/>
              <a:gd name="adj4" fmla="val -34765"/>
            </a:avLst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oval" w="med" len="med"/>
          </a:ln>
          <a:effectLst/>
          <a:extLst/>
        </p:spPr>
        <p:txBody>
          <a:bodyPr vert="horz" wrap="square" lIns="10800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000" b="0" dirty="0" smtClean="0">
                <a:solidFill>
                  <a:schemeClr val="accent2"/>
                </a:solidFill>
                <a:latin typeface="Arial" pitchFamily="34" charset="0"/>
              </a:rPr>
              <a:t>Export </a:t>
            </a:r>
            <a:r>
              <a:rPr lang="de-AT" sz="1000" b="0" dirty="0" err="1" smtClean="0">
                <a:solidFill>
                  <a:schemeClr val="accent2"/>
                </a:solidFill>
                <a:latin typeface="Arial" pitchFamily="34" charset="0"/>
              </a:rPr>
              <a:t>messages</a:t>
            </a:r>
            <a:r>
              <a:rPr lang="de-AT" sz="1000" b="0" dirty="0" smtClean="0">
                <a:solidFill>
                  <a:schemeClr val="accent2"/>
                </a:solidFill>
                <a:latin typeface="Arial" pitchFamily="34" charset="0"/>
              </a:rPr>
              <a:t> </a:t>
            </a:r>
            <a:r>
              <a:rPr lang="de-AT" sz="1000" b="0" dirty="0" err="1" smtClean="0">
                <a:solidFill>
                  <a:schemeClr val="accent2"/>
                </a:solidFill>
                <a:latin typeface="Arial" pitchFamily="34" charset="0"/>
              </a:rPr>
              <a:t>to</a:t>
            </a:r>
            <a:r>
              <a:rPr lang="de-AT" sz="1000" b="0" dirty="0" smtClean="0">
                <a:solidFill>
                  <a:schemeClr val="accent2"/>
                </a:solidFill>
                <a:latin typeface="Arial" pitchFamily="34" charset="0"/>
              </a:rPr>
              <a:t> </a:t>
            </a:r>
            <a:r>
              <a:rPr lang="de-AT" sz="1000" b="0" dirty="0" err="1" smtClean="0">
                <a:solidFill>
                  <a:schemeClr val="accent2"/>
                </a:solidFill>
                <a:latin typeface="Arial" pitchFamily="34" charset="0"/>
              </a:rPr>
              <a:t>clipboard</a:t>
            </a:r>
            <a:endParaRPr kumimoji="0" lang="en-US" sz="1000" b="0" i="0" u="none" strike="noStrike" cap="none" normalizeH="0" baseline="0" dirty="0" smtClean="0">
              <a:ln>
                <a:noFill/>
              </a:ln>
              <a:solidFill>
                <a:schemeClr val="accent2"/>
              </a:solidFill>
              <a:effectLst/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1332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886700" cy="576000"/>
          </a:xfrm>
        </p:spPr>
        <p:txBody>
          <a:bodyPr>
            <a:normAutofit/>
          </a:bodyPr>
          <a:lstStyle/>
          <a:p>
            <a:r>
              <a:rPr lang="en-US" dirty="0" smtClean="0"/>
              <a:t>VECTO Engine – Basic features</a:t>
            </a:r>
            <a:endParaRPr lang="en-US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360000" y="1267200"/>
            <a:ext cx="8100000" cy="326350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Written in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VB.net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Portable application (i.e.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no installation required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File format conventions </a:t>
            </a:r>
            <a:r>
              <a:rPr lang="en-US" sz="16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[§6 </a:t>
            </a:r>
            <a:r>
              <a:rPr lang="en-US" sz="1600" i="1" dirty="0" smtClean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of Annex V </a:t>
            </a:r>
            <a:r>
              <a:rPr lang="en-US" sz="16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of Regulation (EU) 2017/2400]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CSV (Comma Separated Values) file type</a:t>
            </a:r>
          </a:p>
          <a:p>
            <a:pPr lvl="2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 separator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is </a:t>
            </a:r>
            <a:r>
              <a:rPr lang="fr-FR" dirty="0">
                <a:latin typeface="Helvetica" panose="020B0604020202020204" pitchFamily="34" charset="0"/>
                <a:cs typeface="Helvetica" panose="020B0604020202020204" pitchFamily="34" charset="0"/>
              </a:rPr>
              <a:t>Comma “,”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2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Decimal separator is </a:t>
            </a:r>
            <a:r>
              <a:rPr lang="fr-FR" dirty="0">
                <a:latin typeface="Helvetica" panose="020B0604020202020204" pitchFamily="34" charset="0"/>
                <a:cs typeface="Helvetica" panose="020B0604020202020204" pitchFamily="34" charset="0"/>
              </a:rPr>
              <a:t>Dot </a:t>
            </a:r>
            <a:r>
              <a:rPr lang="fr-FR" dirty="0" smtClean="0">
                <a:latin typeface="Helvetica" panose="020B0604020202020204" pitchFamily="34" charset="0"/>
                <a:cs typeface="Helvetica" panose="020B0604020202020204" pitchFamily="34" charset="0"/>
              </a:rPr>
              <a:t>“.”</a:t>
            </a:r>
            <a:br>
              <a:rPr lang="fr-FR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fr-FR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According to Regulation (EU) 2017/2400 the use of VECTO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Engine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is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mandatory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Output is one single XML file</a:t>
            </a: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File </a:t>
            </a: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already </a:t>
            </a: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hashed</a:t>
            </a: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Ready for use in VECTO vehicle simulation for declaration</a:t>
            </a:r>
          </a:p>
        </p:txBody>
      </p:sp>
    </p:spTree>
    <p:extLst>
      <p:ext uri="{BB962C8B-B14F-4D97-AF65-F5344CB8AC3E}">
        <p14:creationId xmlns:p14="http://schemas.microsoft.com/office/powerpoint/2010/main" val="162204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 smtClean="0"/>
              <a:t>VECTO Engine – Input files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464" cy="43704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/>
              </a:rPr>
              <a:t>VECTO Engine needs 4 separate input files (determined according to the current version of the technical annex):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Fuel consumption map of CO2-parent engine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Full-load curve of </a:t>
            </a:r>
            <a:r>
              <a:rPr lang="en-US" sz="1400" b="0" dirty="0">
                <a:latin typeface="Helvetica"/>
              </a:rPr>
              <a:t>CO2-parent engine</a:t>
            </a:r>
            <a:endParaRPr lang="en-US" sz="1400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/>
              </a:rPr>
              <a:t>Full-load curve of </a:t>
            </a:r>
            <a:r>
              <a:rPr lang="en-US" sz="1400" b="0" dirty="0" smtClean="0">
                <a:latin typeface="Helvetica"/>
              </a:rPr>
              <a:t>engine to be certified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Motoring </a:t>
            </a:r>
            <a:r>
              <a:rPr lang="en-US" sz="1400" b="0" dirty="0">
                <a:latin typeface="Helvetica"/>
              </a:rPr>
              <a:t>curve of CO2-parent engine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endParaRPr lang="en-US" sz="1400" b="0" dirty="0" smtClean="0">
              <a:latin typeface="Helvetica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Input file formats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For file formats please refer to the technical annex or supplied demo files</a:t>
            </a: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!</a:t>
            </a:r>
            <a:br>
              <a:rPr lang="en-US" sz="1400" b="0" dirty="0" smtClean="0">
                <a:latin typeface="Helvetica"/>
                <a:sym typeface="Wingdings" panose="05000000000000000000" pitchFamily="2" charset="2"/>
              </a:rPr>
            </a:br>
            <a:r>
              <a:rPr lang="en-US" sz="14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[§6 of Annex V of Regulation (EU) 2017/2400]</a:t>
            </a:r>
            <a:endParaRPr lang="en-US" sz="1400" b="0" dirty="0" smtClean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lang="en-US" sz="1400" b="0" dirty="0" smtClean="0">
              <a:latin typeface="Helvetica"/>
              <a:sym typeface="Wingdings" panose="05000000000000000000" pitchFamily="2" charset="2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Demo data supplied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Two different full-load curves for two power ratings of one engine </a:t>
            </a:r>
            <a:r>
              <a:rPr lang="en-US" sz="1400" b="0" dirty="0" smtClean="0">
                <a:latin typeface="Helvetica"/>
              </a:rPr>
              <a:t>CO2-family</a:t>
            </a: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 supplied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Child: full-load of lower power rating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Parent: full-load of highest power rating</a:t>
            </a:r>
            <a:endParaRPr lang="en-US" sz="1400" b="0" dirty="0">
              <a:latin typeface="Helvetica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28712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 smtClean="0"/>
              <a:t>VECTO Engine – Output files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000" cy="2323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/>
              </a:rPr>
              <a:t>VECTO Engine produces one XML output file</a:t>
            </a:r>
            <a:r>
              <a:rPr lang="en-US" b="0" dirty="0" smtClean="0">
                <a:latin typeface="Helvetica"/>
              </a:rPr>
              <a:t>:</a:t>
            </a:r>
            <a:br>
              <a:rPr lang="en-US" b="0" dirty="0" smtClean="0">
                <a:latin typeface="Helvetica"/>
              </a:rPr>
            </a:br>
            <a:endParaRPr lang="en-US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File </a:t>
            </a:r>
            <a:r>
              <a:rPr lang="en-US" sz="1400" b="0" dirty="0">
                <a:latin typeface="Helvetica"/>
              </a:rPr>
              <a:t>name is </a:t>
            </a:r>
            <a:r>
              <a:rPr lang="en-US" sz="1400" b="0" dirty="0" smtClean="0">
                <a:latin typeface="Helvetica"/>
              </a:rPr>
              <a:t>created based on GUI input data </a:t>
            </a:r>
            <a:r>
              <a:rPr lang="en-US" sz="1400" b="0" dirty="0" smtClean="0">
                <a:latin typeface="Helvetica"/>
              </a:rPr>
              <a:t>according </a:t>
            </a:r>
            <a:r>
              <a:rPr lang="en-US" sz="1400" b="0" dirty="0" smtClean="0">
                <a:latin typeface="Helvetica"/>
              </a:rPr>
              <a:t>to the following scheme</a:t>
            </a:r>
            <a:r>
              <a:rPr lang="en-US" sz="1400" b="0" dirty="0" smtClean="0">
                <a:latin typeface="Helvetica"/>
              </a:rPr>
              <a:t>:</a:t>
            </a:r>
            <a:br>
              <a:rPr lang="en-US" sz="1400" b="0" dirty="0" smtClean="0">
                <a:latin typeface="Helvetica"/>
              </a:rPr>
            </a:br>
            <a:r>
              <a:rPr lang="en-US" sz="1400" b="0" dirty="0">
                <a:latin typeface="Helvetica"/>
              </a:rPr>
              <a:t/>
            </a:r>
            <a:br>
              <a:rPr lang="en-US" sz="1400" b="0" dirty="0">
                <a:latin typeface="Helvetica"/>
              </a:rPr>
            </a:br>
            <a:r>
              <a:rPr lang="en-US" sz="1400" b="0" dirty="0" smtClean="0">
                <a:latin typeface="Helvetica"/>
              </a:rPr>
              <a:t>“</a:t>
            </a:r>
            <a:r>
              <a:rPr lang="en-US" sz="1400" b="0" dirty="0" smtClean="0">
                <a:latin typeface="Helvetica"/>
              </a:rPr>
              <a:t>Manufacturer” </a:t>
            </a:r>
            <a:r>
              <a:rPr lang="en-US" sz="1400" b="0" dirty="0" smtClean="0">
                <a:latin typeface="Helvetica"/>
              </a:rPr>
              <a:t>&amp; </a:t>
            </a:r>
            <a:r>
              <a:rPr lang="en-US" sz="1400" b="0" dirty="0">
                <a:latin typeface="Helvetica"/>
              </a:rPr>
              <a:t>"_" </a:t>
            </a:r>
            <a:r>
              <a:rPr lang="en-US" sz="1400" b="0" dirty="0" smtClean="0">
                <a:latin typeface="Helvetica"/>
              </a:rPr>
              <a:t>&amp; “Model” &amp; </a:t>
            </a:r>
            <a:r>
              <a:rPr lang="en-US" sz="1400" b="0" dirty="0">
                <a:latin typeface="Helvetica"/>
              </a:rPr>
              <a:t>".</a:t>
            </a:r>
            <a:r>
              <a:rPr lang="en-US" sz="1400" b="0" dirty="0" smtClean="0">
                <a:latin typeface="Helvetica"/>
              </a:rPr>
              <a:t>xml“</a:t>
            </a:r>
            <a:br>
              <a:rPr lang="en-US" sz="1400" b="0" dirty="0" smtClean="0">
                <a:latin typeface="Helvetica"/>
              </a:rPr>
            </a:br>
            <a:endParaRPr lang="en-US" sz="1400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/>
              </a:rPr>
              <a:t>File already </a:t>
            </a:r>
            <a:r>
              <a:rPr lang="en-US" sz="1400" b="0" dirty="0" smtClean="0">
                <a:latin typeface="Helvetica"/>
              </a:rPr>
              <a:t>hashed</a:t>
            </a:r>
            <a:br>
              <a:rPr lang="en-US" sz="1400" b="0" dirty="0" smtClean="0">
                <a:latin typeface="Helvetica"/>
              </a:rPr>
            </a:br>
            <a:endParaRPr lang="en-US" sz="1400" b="0" dirty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/>
              </a:rPr>
              <a:t>Ready for use in VECTO vehicle simulation for </a:t>
            </a:r>
            <a:r>
              <a:rPr lang="en-US" sz="1400" b="0" dirty="0" smtClean="0">
                <a:latin typeface="Helvetica"/>
              </a:rPr>
              <a:t>declaration</a:t>
            </a:r>
            <a:endParaRPr lang="en-US" sz="1400" b="0" dirty="0" smtClean="0">
              <a:latin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838928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</a:t>
            </a:r>
            <a:r>
              <a:rPr lang="en-US" dirty="0" smtClean="0"/>
              <a:t>E</a:t>
            </a:r>
            <a:r>
              <a:rPr lang="en-US" dirty="0" smtClean="0"/>
              <a:t>valuation algorithms</a:t>
            </a:r>
            <a:br>
              <a:rPr lang="en-US" dirty="0" smtClean="0"/>
            </a:br>
            <a:r>
              <a:rPr lang="en-US" dirty="0" smtClean="0"/>
              <a:t>performed </a:t>
            </a:r>
            <a:r>
              <a:rPr lang="en-US" dirty="0" smtClean="0"/>
              <a:t>(</a:t>
            </a:r>
            <a:r>
              <a:rPr lang="en-US" dirty="0" smtClean="0"/>
              <a:t>p1/5)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179512" y="1268760"/>
            <a:ext cx="8784000" cy="42934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-936000" algn="l"/>
            <a:r>
              <a:rPr lang="en-GB" sz="1400" b="0" dirty="0"/>
              <a:t>1.	Reading of input files and automatic check of input data</a:t>
            </a:r>
            <a:endParaRPr lang="de-AT" sz="1400" b="0" dirty="0"/>
          </a:p>
          <a:p>
            <a:pPr indent="-936000" algn="l"/>
            <a:r>
              <a:rPr lang="en-GB" sz="1400" b="0" dirty="0"/>
              <a:t>1.1	Check of requirements for input data according to the definitions in paragraph 6.1 of this Annex</a:t>
            </a:r>
            <a:endParaRPr lang="de-AT" sz="1400" b="0" dirty="0"/>
          </a:p>
          <a:p>
            <a:pPr indent="-936000" algn="l"/>
            <a:r>
              <a:rPr lang="en-GB" sz="1400" b="0" dirty="0"/>
              <a:t>1.2	Check of requirements for recorded FCMC data according to the definitions in paragraph </a:t>
            </a:r>
            <a:r>
              <a:rPr lang="en-GB" sz="1400" b="0" dirty="0" smtClean="0"/>
              <a:t>4.3.5.2</a:t>
            </a:r>
            <a:br>
              <a:rPr lang="en-GB" sz="1400" b="0" dirty="0" smtClean="0"/>
            </a:br>
            <a:r>
              <a:rPr lang="en-GB" sz="1400" b="0" dirty="0" smtClean="0"/>
              <a:t>	and </a:t>
            </a:r>
            <a:r>
              <a:rPr lang="en-GB" sz="1400" b="0" dirty="0" err="1"/>
              <a:t>subpoint</a:t>
            </a:r>
            <a:r>
              <a:rPr lang="en-GB" sz="1400" b="0" dirty="0"/>
              <a:t> (1) of paragraph 4.3.5.5 of this Annex</a:t>
            </a:r>
            <a:endParaRPr lang="de-AT" sz="1400" b="0" dirty="0"/>
          </a:p>
          <a:p>
            <a:pPr indent="-936000" algn="l"/>
            <a:r>
              <a:rPr lang="en-GB" sz="1400" b="0" dirty="0"/>
              <a:t>2.	Calculation of characteristic engine speeds from full load curves of parent engine and </a:t>
            </a:r>
            <a:r>
              <a:rPr lang="en-GB" sz="1400" b="0" dirty="0" smtClean="0"/>
              <a:t>actual</a:t>
            </a:r>
            <a:br>
              <a:rPr lang="en-GB" sz="1400" b="0" dirty="0" smtClean="0"/>
            </a:br>
            <a:r>
              <a:rPr lang="en-GB" sz="1400" b="0" dirty="0" smtClean="0"/>
              <a:t>	engine for </a:t>
            </a:r>
            <a:r>
              <a:rPr lang="en-GB" sz="1400" b="0" dirty="0"/>
              <a:t>certification according to the definitions in paragraph 4.3.5.2.1 of this Annex</a:t>
            </a:r>
            <a:endParaRPr lang="de-AT" sz="1400" b="0" dirty="0"/>
          </a:p>
          <a:p>
            <a:pPr indent="-936000" algn="l"/>
            <a:r>
              <a:rPr lang="en-GB" sz="1400" b="0" dirty="0"/>
              <a:t>3.	Processing of fuel consumption (FC) map</a:t>
            </a:r>
            <a:endParaRPr lang="de-AT" sz="1400" b="0" dirty="0"/>
          </a:p>
          <a:p>
            <a:pPr indent="-936000" algn="l"/>
            <a:r>
              <a:rPr lang="en-GB" sz="1400" b="0" dirty="0"/>
              <a:t>3.1	FC values at </a:t>
            </a:r>
            <a:r>
              <a:rPr lang="en-GB" sz="1400" b="0" dirty="0" err="1"/>
              <a:t>n</a:t>
            </a:r>
            <a:r>
              <a:rPr lang="en-GB" sz="1400" b="0" baseline="-25000" dirty="0" err="1"/>
              <a:t>idle</a:t>
            </a:r>
            <a:r>
              <a:rPr lang="en-GB" sz="1400" b="0" dirty="0"/>
              <a:t> are copied to engine speed (</a:t>
            </a:r>
            <a:r>
              <a:rPr lang="en-GB" sz="1400" b="0" dirty="0" err="1"/>
              <a:t>n</a:t>
            </a:r>
            <a:r>
              <a:rPr lang="en-GB" sz="1400" b="0" baseline="-25000" dirty="0" err="1"/>
              <a:t>idle</a:t>
            </a:r>
            <a:r>
              <a:rPr lang="en-GB" sz="1400" b="0" dirty="0"/>
              <a:t> – 100 min</a:t>
            </a:r>
            <a:r>
              <a:rPr lang="en-GB" sz="1400" b="0" baseline="30000" dirty="0"/>
              <a:t>-1</a:t>
            </a:r>
            <a:r>
              <a:rPr lang="en-GB" sz="1400" b="0" dirty="0"/>
              <a:t>) in the map</a:t>
            </a:r>
            <a:endParaRPr lang="de-AT" sz="1400" b="0" dirty="0"/>
          </a:p>
          <a:p>
            <a:pPr indent="-936000" algn="l"/>
            <a:r>
              <a:rPr lang="en-GB" sz="1400" b="0" dirty="0"/>
              <a:t>3.2	FC values at n</a:t>
            </a:r>
            <a:r>
              <a:rPr lang="en-GB" sz="1400" b="0" baseline="-25000" dirty="0"/>
              <a:t>95h</a:t>
            </a:r>
            <a:r>
              <a:rPr lang="en-GB" sz="1400" b="0" dirty="0"/>
              <a:t> are copied to engine speed (n</a:t>
            </a:r>
            <a:r>
              <a:rPr lang="en-GB" sz="1400" b="0" baseline="-25000" dirty="0"/>
              <a:t>95h</a:t>
            </a:r>
            <a:r>
              <a:rPr lang="en-GB" sz="1400" b="0" dirty="0"/>
              <a:t> + 500 min</a:t>
            </a:r>
            <a:r>
              <a:rPr lang="en-GB" sz="1400" b="0" baseline="30000" dirty="0"/>
              <a:t>-1</a:t>
            </a:r>
            <a:r>
              <a:rPr lang="en-GB" sz="1400" b="0" dirty="0"/>
              <a:t>) in the map</a:t>
            </a:r>
            <a:endParaRPr lang="de-AT" sz="1400" b="0" dirty="0"/>
          </a:p>
          <a:p>
            <a:pPr indent="-936000" algn="l"/>
            <a:r>
              <a:rPr lang="en-GB" sz="1400" b="0" dirty="0"/>
              <a:t>3.3	Extrapolation of FC values at all engine speed </a:t>
            </a:r>
            <a:r>
              <a:rPr lang="en-GB" sz="1400" b="0" dirty="0" err="1"/>
              <a:t>setpoints</a:t>
            </a:r>
            <a:r>
              <a:rPr lang="en-GB" sz="1400" b="0" dirty="0"/>
              <a:t> to a torque value of (1.1 times </a:t>
            </a:r>
            <a:r>
              <a:rPr lang="en-GB" sz="1400" b="0" dirty="0" err="1" smtClean="0"/>
              <a:t>T</a:t>
            </a:r>
            <a:r>
              <a:rPr lang="en-GB" sz="1400" b="0" baseline="-25000" dirty="0" err="1" smtClean="0"/>
              <a:t>max_overall</a:t>
            </a:r>
            <a:r>
              <a:rPr lang="en-GB" sz="1400" b="0" dirty="0" smtClean="0"/>
              <a:t>)</a:t>
            </a:r>
            <a:br>
              <a:rPr lang="en-GB" sz="1400" b="0" dirty="0" smtClean="0"/>
            </a:br>
            <a:r>
              <a:rPr lang="en-GB" sz="1400" b="0" dirty="0" smtClean="0"/>
              <a:t>	by </a:t>
            </a:r>
            <a:r>
              <a:rPr lang="en-GB" sz="1400" b="0" dirty="0"/>
              <a:t>using least squares linear regression based on the 3 measured FC points with the </a:t>
            </a:r>
            <a:r>
              <a:rPr lang="en-GB" sz="1400" b="0" dirty="0" smtClean="0"/>
              <a:t>highest</a:t>
            </a:r>
            <a:br>
              <a:rPr lang="en-GB" sz="1400" b="0" dirty="0" smtClean="0"/>
            </a:br>
            <a:r>
              <a:rPr lang="en-GB" sz="1400" b="0" dirty="0" smtClean="0"/>
              <a:t>	torque values </a:t>
            </a:r>
            <a:r>
              <a:rPr lang="en-GB" sz="1400" b="0" dirty="0"/>
              <a:t>at each engine speed </a:t>
            </a:r>
            <a:r>
              <a:rPr lang="en-GB" sz="1400" b="0" dirty="0" err="1"/>
              <a:t>setpoint</a:t>
            </a:r>
            <a:r>
              <a:rPr lang="en-GB" sz="1400" b="0" dirty="0"/>
              <a:t> in the map</a:t>
            </a:r>
            <a:endParaRPr lang="de-AT" sz="1400" b="0" dirty="0"/>
          </a:p>
          <a:p>
            <a:pPr indent="-936000" algn="l"/>
            <a:r>
              <a:rPr lang="en-GB" sz="1400" b="0" dirty="0"/>
              <a:t>3.4	Adding of FC = 0 for interpolated motoring torque values at all engine speed </a:t>
            </a:r>
            <a:r>
              <a:rPr lang="en-GB" sz="1400" b="0" dirty="0" err="1"/>
              <a:t>setpoints</a:t>
            </a:r>
            <a:r>
              <a:rPr lang="en-GB" sz="1400" b="0" dirty="0"/>
              <a:t> in the map</a:t>
            </a:r>
            <a:endParaRPr lang="de-AT" sz="1400" b="0" dirty="0"/>
          </a:p>
          <a:p>
            <a:pPr indent="-936000" algn="l"/>
            <a:r>
              <a:rPr lang="en-GB" sz="1400" b="0" dirty="0"/>
              <a:t>3.5	Adding of FC = 0 for minimum of interpolated motoring torque values from </a:t>
            </a:r>
            <a:r>
              <a:rPr lang="en-GB" sz="1400" b="0" dirty="0" err="1"/>
              <a:t>subpoint</a:t>
            </a:r>
            <a:r>
              <a:rPr lang="en-GB" sz="1400" b="0" dirty="0"/>
              <a:t> (3.4) </a:t>
            </a:r>
            <a:r>
              <a:rPr lang="en-GB" sz="1400" b="0" dirty="0" smtClean="0"/>
              <a:t>minus</a:t>
            </a:r>
            <a:br>
              <a:rPr lang="en-GB" sz="1400" b="0" dirty="0" smtClean="0"/>
            </a:br>
            <a:r>
              <a:rPr lang="en-GB" sz="1400" b="0" dirty="0" smtClean="0"/>
              <a:t>	100 Nm </a:t>
            </a:r>
            <a:r>
              <a:rPr lang="en-GB" sz="1400" b="0" dirty="0"/>
              <a:t>at all engine speed </a:t>
            </a:r>
            <a:r>
              <a:rPr lang="en-GB" sz="1400" b="0" dirty="0" err="1"/>
              <a:t>setpoints</a:t>
            </a:r>
            <a:r>
              <a:rPr lang="en-GB" sz="1400" b="0" dirty="0"/>
              <a:t> in the map</a:t>
            </a:r>
            <a:endParaRPr lang="de-AT" sz="1400" b="0" dirty="0"/>
          </a:p>
        </p:txBody>
      </p:sp>
    </p:spTree>
    <p:extLst>
      <p:ext uri="{BB962C8B-B14F-4D97-AF65-F5344CB8AC3E}">
        <p14:creationId xmlns:p14="http://schemas.microsoft.com/office/powerpoint/2010/main" val="399374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</a:t>
            </a:r>
            <a:r>
              <a:rPr lang="en-US" dirty="0" smtClean="0"/>
              <a:t>E</a:t>
            </a:r>
            <a:r>
              <a:rPr lang="en-US" dirty="0" smtClean="0"/>
              <a:t>valuation algorithms</a:t>
            </a:r>
            <a:br>
              <a:rPr lang="en-US" dirty="0" smtClean="0"/>
            </a:br>
            <a:r>
              <a:rPr lang="en-US" dirty="0" smtClean="0"/>
              <a:t>performed </a:t>
            </a:r>
            <a:r>
              <a:rPr lang="en-US" dirty="0" smtClean="0"/>
              <a:t>(</a:t>
            </a:r>
            <a:r>
              <a:rPr lang="en-US" dirty="0" smtClean="0"/>
              <a:t>p2/5)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179512" y="1268760"/>
            <a:ext cx="8784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GB" sz="1400" b="0" dirty="0"/>
              <a:t>4.	Simulation of FC and cycle work over WHTC and respective subparts for actual engine </a:t>
            </a:r>
            <a:r>
              <a:rPr lang="en-GB" sz="1400" b="0" dirty="0" smtClean="0"/>
              <a:t>for</a:t>
            </a:r>
            <a:br>
              <a:rPr lang="en-GB" sz="1400" b="0" dirty="0" smtClean="0"/>
            </a:br>
            <a:r>
              <a:rPr lang="en-GB" sz="1400" b="0" dirty="0" smtClean="0"/>
              <a:t>	certification</a:t>
            </a:r>
            <a:endParaRPr lang="de-AT" sz="1400" b="0" dirty="0"/>
          </a:p>
          <a:p>
            <a:pPr algn="l"/>
            <a:r>
              <a:rPr lang="en-GB" sz="1400" b="0" dirty="0"/>
              <a:t>4.1.	WHTC reference points are </a:t>
            </a:r>
            <a:r>
              <a:rPr lang="en-GB" sz="1400" b="0" dirty="0" err="1"/>
              <a:t>denormalized</a:t>
            </a:r>
            <a:r>
              <a:rPr lang="en-GB" sz="1400" b="0" dirty="0"/>
              <a:t> using the full load curve input in originally </a:t>
            </a:r>
            <a:r>
              <a:rPr lang="en-GB" sz="1400" b="0" dirty="0" smtClean="0"/>
              <a:t>recorded</a:t>
            </a:r>
            <a:br>
              <a:rPr lang="en-GB" sz="1400" b="0" dirty="0" smtClean="0"/>
            </a:br>
            <a:r>
              <a:rPr lang="en-GB" sz="1400" b="0" dirty="0" smtClean="0"/>
              <a:t>	resolution</a:t>
            </a:r>
            <a:endParaRPr lang="de-AT" sz="1400" b="0" dirty="0"/>
          </a:p>
          <a:p>
            <a:pPr algn="l"/>
            <a:r>
              <a:rPr lang="en-GB" sz="1400" b="0" dirty="0"/>
              <a:t>4.2.	FC is calculated for WHTC </a:t>
            </a:r>
            <a:r>
              <a:rPr lang="en-GB" sz="1400" b="0" dirty="0" err="1"/>
              <a:t>denormalized</a:t>
            </a:r>
            <a:r>
              <a:rPr lang="en-GB" sz="1400" b="0" dirty="0"/>
              <a:t> reference values for engine speed and torque </a:t>
            </a:r>
            <a:r>
              <a:rPr lang="en-GB" sz="1400" b="0" dirty="0" smtClean="0"/>
              <a:t>from</a:t>
            </a:r>
            <a:br>
              <a:rPr lang="en-GB" sz="1400" b="0" dirty="0" smtClean="0"/>
            </a:br>
            <a:r>
              <a:rPr lang="en-GB" sz="1400" b="0" dirty="0" smtClean="0"/>
              <a:t>	</a:t>
            </a:r>
            <a:r>
              <a:rPr lang="en-GB" sz="1400" b="0" dirty="0" err="1" smtClean="0"/>
              <a:t>subpoint</a:t>
            </a:r>
            <a:r>
              <a:rPr lang="en-GB" sz="1400" b="0" dirty="0" smtClean="0"/>
              <a:t> </a:t>
            </a:r>
            <a:r>
              <a:rPr lang="en-GB" sz="1400" b="0" dirty="0"/>
              <a:t>4.1</a:t>
            </a:r>
            <a:endParaRPr lang="de-AT" sz="1400" b="0" dirty="0"/>
          </a:p>
          <a:p>
            <a:pPr algn="l"/>
            <a:r>
              <a:rPr lang="en-GB" sz="1400" b="0" dirty="0"/>
              <a:t>4.3.	FC is calculated with engine inertia set to 0</a:t>
            </a:r>
            <a:endParaRPr lang="de-AT" sz="1400" b="0" dirty="0"/>
          </a:p>
          <a:p>
            <a:pPr algn="l"/>
            <a:r>
              <a:rPr lang="en-GB" sz="1400" b="0" dirty="0"/>
              <a:t>4.4.	FC is calculated with standard PT1-function (as in main vehicle simulation) for engine </a:t>
            </a:r>
            <a:r>
              <a:rPr lang="en-GB" sz="1400" b="0" dirty="0" smtClean="0"/>
              <a:t>torque</a:t>
            </a:r>
            <a:br>
              <a:rPr lang="en-GB" sz="1400" b="0" dirty="0" smtClean="0"/>
            </a:br>
            <a:r>
              <a:rPr lang="en-GB" sz="1400" b="0" dirty="0" smtClean="0"/>
              <a:t>	response </a:t>
            </a:r>
            <a:r>
              <a:rPr lang="en-GB" sz="1400" b="0" dirty="0"/>
              <a:t>active</a:t>
            </a:r>
            <a:endParaRPr lang="de-AT" sz="1400" b="0" dirty="0"/>
          </a:p>
          <a:p>
            <a:pPr algn="l"/>
            <a:r>
              <a:rPr lang="en-GB" sz="1400" b="0" dirty="0"/>
              <a:t>4.5.	FC for all motoring points is set to 0</a:t>
            </a:r>
            <a:endParaRPr lang="de-AT" sz="1400" b="0" dirty="0"/>
          </a:p>
          <a:p>
            <a:pPr algn="l"/>
            <a:r>
              <a:rPr lang="en-GB" sz="1400" b="0" dirty="0"/>
              <a:t>4.6.	FC for all non-motoring engine operation points is calculated from FC map by </a:t>
            </a:r>
            <a:r>
              <a:rPr lang="en-GB" sz="1400" b="0" dirty="0" smtClean="0"/>
              <a:t>Delaunay</a:t>
            </a:r>
            <a:br>
              <a:rPr lang="en-GB" sz="1400" b="0" dirty="0" smtClean="0"/>
            </a:br>
            <a:r>
              <a:rPr lang="en-GB" sz="1400" b="0" dirty="0" smtClean="0"/>
              <a:t>	interpolation </a:t>
            </a:r>
            <a:r>
              <a:rPr lang="en-GB" sz="1400" b="0" dirty="0"/>
              <a:t>method (as in main vehicle simulation)</a:t>
            </a:r>
            <a:endParaRPr lang="de-AT" sz="1400" b="0" dirty="0"/>
          </a:p>
          <a:p>
            <a:pPr algn="l"/>
            <a:r>
              <a:rPr lang="en-GB" sz="1400" b="0" dirty="0"/>
              <a:t>4.7.	Cycle work and FC are calculated according to equations defined in paragraphs 5.1 and 5.2 </a:t>
            </a:r>
            <a:r>
              <a:rPr lang="en-GB" sz="1400" b="0" dirty="0" smtClean="0"/>
              <a:t>of</a:t>
            </a:r>
            <a:br>
              <a:rPr lang="en-GB" sz="1400" b="0" dirty="0" smtClean="0"/>
            </a:br>
            <a:r>
              <a:rPr lang="en-GB" sz="1400" b="0" dirty="0" smtClean="0"/>
              <a:t>	this Annex</a:t>
            </a:r>
            <a:endParaRPr lang="de-AT" sz="1400" b="0" dirty="0"/>
          </a:p>
          <a:p>
            <a:pPr algn="l"/>
            <a:r>
              <a:rPr lang="en-GB" sz="1400" b="0" dirty="0"/>
              <a:t>4.8.	Simulated specific FC values are calculated analogous to equations defined in paragraphs </a:t>
            </a:r>
            <a:r>
              <a:rPr lang="en-GB" sz="1400" b="0" dirty="0" smtClean="0"/>
              <a:t>5.3.1</a:t>
            </a:r>
            <a:br>
              <a:rPr lang="en-GB" sz="1400" b="0" dirty="0" smtClean="0"/>
            </a:br>
            <a:r>
              <a:rPr lang="en-GB" sz="1400" b="0" dirty="0" smtClean="0"/>
              <a:t>	and </a:t>
            </a:r>
            <a:r>
              <a:rPr lang="en-GB" sz="1400" b="0" dirty="0"/>
              <a:t>5.3.2 of this Annex for measured values</a:t>
            </a:r>
            <a:endParaRPr lang="de-AT" sz="1400" b="0" dirty="0"/>
          </a:p>
        </p:txBody>
      </p:sp>
    </p:spTree>
    <p:extLst>
      <p:ext uri="{BB962C8B-B14F-4D97-AF65-F5344CB8AC3E}">
        <p14:creationId xmlns:p14="http://schemas.microsoft.com/office/powerpoint/2010/main" val="3255184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</a:t>
            </a:r>
            <a:r>
              <a:rPr lang="en-US" dirty="0" smtClean="0"/>
              <a:t>E</a:t>
            </a:r>
            <a:r>
              <a:rPr lang="en-US" dirty="0" smtClean="0"/>
              <a:t>valuation algorithms</a:t>
            </a:r>
            <a:br>
              <a:rPr lang="en-US" dirty="0" smtClean="0"/>
            </a:br>
            <a:r>
              <a:rPr lang="en-US" dirty="0" smtClean="0"/>
              <a:t>performed </a:t>
            </a:r>
            <a:r>
              <a:rPr lang="en-US" dirty="0" smtClean="0"/>
              <a:t>(</a:t>
            </a:r>
            <a:r>
              <a:rPr lang="en-US" dirty="0" smtClean="0"/>
              <a:t>p3/5)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179512" y="1268760"/>
            <a:ext cx="8784000" cy="364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GB" sz="1400" b="0" dirty="0"/>
              <a:t>5.	Calculation of WHTC correction factors</a:t>
            </a:r>
            <a:endParaRPr lang="de-AT" sz="1400" b="0" dirty="0"/>
          </a:p>
          <a:p>
            <a:pPr algn="l"/>
            <a:r>
              <a:rPr lang="en-GB" sz="1400" b="0" dirty="0"/>
              <a:t>5.1.	Measured values from input to pre-processing tool and simulated values from point (4) are used </a:t>
            </a:r>
            <a:r>
              <a:rPr lang="en-GB" sz="1400" b="0" dirty="0" smtClean="0"/>
              <a:t>in</a:t>
            </a:r>
            <a:br>
              <a:rPr lang="en-GB" sz="1400" b="0" dirty="0" smtClean="0"/>
            </a:br>
            <a:r>
              <a:rPr lang="en-GB" sz="1400" b="0" dirty="0" smtClean="0"/>
              <a:t>	accordance </a:t>
            </a:r>
            <a:r>
              <a:rPr lang="en-GB" sz="1400" b="0" dirty="0"/>
              <a:t>with the equations in points (5.2) to (5.4)</a:t>
            </a:r>
            <a:endParaRPr lang="de-AT" sz="1400" b="0" dirty="0"/>
          </a:p>
          <a:p>
            <a:pPr algn="l"/>
            <a:r>
              <a:rPr lang="en-GB" sz="1400" b="0" dirty="0"/>
              <a:t>5.2.	</a:t>
            </a:r>
            <a:r>
              <a:rPr lang="en-GB" sz="1400" b="0" dirty="0" err="1"/>
              <a:t>CF</a:t>
            </a:r>
            <a:r>
              <a:rPr lang="en-GB" sz="1400" b="0" baseline="-25000" dirty="0" err="1"/>
              <a:t>Urban</a:t>
            </a:r>
            <a:r>
              <a:rPr lang="en-GB" sz="1400" b="0" dirty="0"/>
              <a:t> = </a:t>
            </a:r>
            <a:r>
              <a:rPr lang="en-GB" sz="1400" b="0" dirty="0" err="1"/>
              <a:t>SFCmeas,</a:t>
            </a:r>
            <a:r>
              <a:rPr lang="en-GB" sz="1400" b="0" baseline="-25000" dirty="0" err="1"/>
              <a:t>Urban</a:t>
            </a:r>
            <a:r>
              <a:rPr lang="en-GB" sz="1400" b="0" dirty="0"/>
              <a:t> / </a:t>
            </a:r>
            <a:r>
              <a:rPr lang="en-GB" sz="1400" b="0" dirty="0" err="1"/>
              <a:t>SFCsimu,</a:t>
            </a:r>
            <a:r>
              <a:rPr lang="en-GB" sz="1400" b="0" baseline="-25000" dirty="0" err="1"/>
              <a:t>Urban</a:t>
            </a:r>
            <a:endParaRPr lang="de-AT" sz="1400" b="0" dirty="0"/>
          </a:p>
          <a:p>
            <a:pPr algn="l"/>
            <a:r>
              <a:rPr lang="en-GB" sz="1400" b="0" dirty="0"/>
              <a:t>5.3.	</a:t>
            </a:r>
            <a:r>
              <a:rPr lang="en-GB" sz="1400" b="0" dirty="0" err="1"/>
              <a:t>CF</a:t>
            </a:r>
            <a:r>
              <a:rPr lang="en-GB" sz="1400" b="0" baseline="-25000" dirty="0" err="1"/>
              <a:t>Rural</a:t>
            </a:r>
            <a:r>
              <a:rPr lang="en-GB" sz="1400" b="0" dirty="0"/>
              <a:t> = </a:t>
            </a:r>
            <a:r>
              <a:rPr lang="en-GB" sz="1400" b="0" dirty="0" err="1"/>
              <a:t>SFCmeas,</a:t>
            </a:r>
            <a:r>
              <a:rPr lang="en-GB" sz="1400" b="0" baseline="-25000" dirty="0" err="1"/>
              <a:t>Rural</a:t>
            </a:r>
            <a:r>
              <a:rPr lang="en-GB" sz="1400" b="0" dirty="0"/>
              <a:t> / </a:t>
            </a:r>
            <a:r>
              <a:rPr lang="en-GB" sz="1400" b="0" dirty="0" err="1"/>
              <a:t>SFCsimu,</a:t>
            </a:r>
            <a:r>
              <a:rPr lang="en-GB" sz="1400" b="0" baseline="-25000" dirty="0" err="1"/>
              <a:t>Rural</a:t>
            </a:r>
            <a:endParaRPr lang="de-AT" sz="1400" b="0" dirty="0"/>
          </a:p>
          <a:p>
            <a:pPr algn="l"/>
            <a:r>
              <a:rPr lang="en-GB" sz="1400" b="0" dirty="0"/>
              <a:t>5.4.	CF</a:t>
            </a:r>
            <a:r>
              <a:rPr lang="en-GB" sz="1400" b="0" baseline="-25000" dirty="0"/>
              <a:t>MW</a:t>
            </a:r>
            <a:r>
              <a:rPr lang="en-GB" sz="1400" b="0" dirty="0"/>
              <a:t> = </a:t>
            </a:r>
            <a:r>
              <a:rPr lang="en-GB" sz="1400" b="0" dirty="0" err="1"/>
              <a:t>SFCmeas,</a:t>
            </a:r>
            <a:r>
              <a:rPr lang="en-GB" sz="1400" b="0" baseline="-25000" dirty="0" err="1"/>
              <a:t>MW</a:t>
            </a:r>
            <a:r>
              <a:rPr lang="en-GB" sz="1400" b="0" dirty="0"/>
              <a:t> / </a:t>
            </a:r>
            <a:r>
              <a:rPr lang="en-GB" sz="1400" b="0" dirty="0" err="1"/>
              <a:t>SFCsimu,</a:t>
            </a:r>
            <a:r>
              <a:rPr lang="en-GB" sz="1400" b="0" baseline="-25000" dirty="0" err="1"/>
              <a:t>MW</a:t>
            </a:r>
            <a:endParaRPr lang="de-AT" sz="1400" b="0" dirty="0"/>
          </a:p>
          <a:p>
            <a:pPr algn="l"/>
            <a:r>
              <a:rPr lang="en-GB" sz="1400" b="0" dirty="0"/>
              <a:t>5.5.	In case that the calculated value for a correction factor is lower than 1, the respective </a:t>
            </a:r>
            <a:r>
              <a:rPr lang="en-GB" sz="1400" b="0" dirty="0" smtClean="0"/>
              <a:t>correction</a:t>
            </a:r>
            <a:br>
              <a:rPr lang="en-GB" sz="1400" b="0" dirty="0" smtClean="0"/>
            </a:br>
            <a:r>
              <a:rPr lang="en-GB" sz="1400" b="0" dirty="0" smtClean="0"/>
              <a:t>	factor </a:t>
            </a:r>
            <a:r>
              <a:rPr lang="en-GB" sz="1400" b="0" dirty="0"/>
              <a:t>is set to 1</a:t>
            </a:r>
            <a:endParaRPr lang="de-AT" sz="1400" b="0" dirty="0"/>
          </a:p>
          <a:p>
            <a:pPr algn="l"/>
            <a:r>
              <a:rPr lang="en-GB" sz="1400" b="0" dirty="0"/>
              <a:t>6.	Calculation of cold-hot emission balancing factor</a:t>
            </a:r>
            <a:endParaRPr lang="de-AT" sz="1400" b="0" dirty="0"/>
          </a:p>
          <a:p>
            <a:pPr algn="l"/>
            <a:r>
              <a:rPr lang="en-GB" sz="1400" b="0" dirty="0"/>
              <a:t>6.1.	This factor is calculated in accordance with the equation in point (6.2)</a:t>
            </a:r>
            <a:endParaRPr lang="de-AT" sz="1400" b="0" dirty="0"/>
          </a:p>
          <a:p>
            <a:pPr algn="l"/>
            <a:r>
              <a:rPr lang="en-GB" sz="1400" b="0" dirty="0"/>
              <a:t>6.2.	</a:t>
            </a:r>
            <a:r>
              <a:rPr lang="en-GB" sz="1400" b="0" dirty="0" err="1"/>
              <a:t>BF</a:t>
            </a:r>
            <a:r>
              <a:rPr lang="en-GB" sz="1400" b="0" baseline="-25000" dirty="0" err="1"/>
              <a:t>cold</a:t>
            </a:r>
            <a:r>
              <a:rPr lang="en-GB" sz="1400" b="0" baseline="-25000" dirty="0"/>
              <a:t>-hot</a:t>
            </a:r>
            <a:r>
              <a:rPr lang="en-GB" sz="1400" b="0" dirty="0"/>
              <a:t> = 1 + 0.1 x (</a:t>
            </a:r>
            <a:r>
              <a:rPr lang="en-GB" sz="1400" b="0" dirty="0" err="1"/>
              <a:t>SFC</a:t>
            </a:r>
            <a:r>
              <a:rPr lang="en-GB" sz="1400" b="0" baseline="-25000" dirty="0" err="1"/>
              <a:t>meas,cold</a:t>
            </a:r>
            <a:r>
              <a:rPr lang="en-GB" sz="1400" b="0" dirty="0"/>
              <a:t> – </a:t>
            </a:r>
            <a:r>
              <a:rPr lang="en-GB" sz="1400" b="0" dirty="0" err="1"/>
              <a:t>SFC</a:t>
            </a:r>
            <a:r>
              <a:rPr lang="en-GB" sz="1400" b="0" baseline="-25000" dirty="0" err="1"/>
              <a:t>meas,hot</a:t>
            </a:r>
            <a:r>
              <a:rPr lang="en-GB" sz="1400" b="0" dirty="0"/>
              <a:t>) / </a:t>
            </a:r>
            <a:r>
              <a:rPr lang="en-GB" sz="1400" b="0" dirty="0" err="1"/>
              <a:t>SFC</a:t>
            </a:r>
            <a:r>
              <a:rPr lang="en-GB" sz="1400" b="0" baseline="-25000" dirty="0" err="1"/>
              <a:t>meas,hot</a:t>
            </a:r>
            <a:endParaRPr lang="de-AT" sz="1400" b="0" dirty="0"/>
          </a:p>
          <a:p>
            <a:pPr algn="l"/>
            <a:r>
              <a:rPr lang="en-GB" sz="1400" b="0" dirty="0"/>
              <a:t>6.3.	In case that the calculated value for this factor is lower than 1, the factor is set to 1</a:t>
            </a:r>
            <a:endParaRPr lang="de-AT" sz="1400" b="0" dirty="0"/>
          </a:p>
        </p:txBody>
      </p:sp>
    </p:spTree>
    <p:extLst>
      <p:ext uri="{BB962C8B-B14F-4D97-AF65-F5344CB8AC3E}">
        <p14:creationId xmlns:p14="http://schemas.microsoft.com/office/powerpoint/2010/main" val="4077340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</a:t>
            </a:r>
            <a:r>
              <a:rPr lang="en-US" dirty="0" smtClean="0"/>
              <a:t>E</a:t>
            </a:r>
            <a:r>
              <a:rPr lang="en-US" dirty="0" smtClean="0"/>
              <a:t>valuation algorithms</a:t>
            </a:r>
            <a:br>
              <a:rPr lang="en-US" dirty="0" smtClean="0"/>
            </a:br>
            <a:r>
              <a:rPr lang="en-US" dirty="0" smtClean="0"/>
              <a:t>performed </a:t>
            </a:r>
            <a:r>
              <a:rPr lang="en-US" dirty="0" smtClean="0"/>
              <a:t>(</a:t>
            </a:r>
            <a:r>
              <a:rPr lang="en-US" dirty="0" smtClean="0"/>
              <a:t>p4/5)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179512" y="1268760"/>
            <a:ext cx="8784000" cy="4508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GB" sz="1400" b="0" dirty="0"/>
              <a:t>7.	Correction of FC values in FC map to standard NCV</a:t>
            </a:r>
            <a:endParaRPr lang="de-AT" sz="1400" b="0" dirty="0"/>
          </a:p>
          <a:p>
            <a:pPr algn="l"/>
            <a:r>
              <a:rPr lang="en-GB" sz="1400" b="0" dirty="0"/>
              <a:t>7.1.	This correction is performed in accordance with the equation in point (7.2)</a:t>
            </a:r>
            <a:endParaRPr lang="de-AT" sz="1400" b="0" dirty="0"/>
          </a:p>
          <a:p>
            <a:pPr algn="l"/>
            <a:r>
              <a:rPr lang="en-GB" sz="1400" b="0" dirty="0"/>
              <a:t>7.2.	</a:t>
            </a:r>
            <a:r>
              <a:rPr lang="en-GB" sz="1400" b="0" dirty="0" err="1"/>
              <a:t>FC</a:t>
            </a:r>
            <a:r>
              <a:rPr lang="en-GB" sz="1400" b="0" baseline="-25000" dirty="0" err="1"/>
              <a:t>corrected</a:t>
            </a:r>
            <a:r>
              <a:rPr lang="en-GB" sz="1400" b="0" dirty="0"/>
              <a:t> = </a:t>
            </a:r>
            <a:r>
              <a:rPr lang="en-GB" sz="1400" b="0" dirty="0" err="1"/>
              <a:t>FC</a:t>
            </a:r>
            <a:r>
              <a:rPr lang="en-GB" sz="1400" b="0" baseline="-25000" dirty="0" err="1"/>
              <a:t>measured,map</a:t>
            </a:r>
            <a:r>
              <a:rPr lang="en-GB" sz="1400" b="0" dirty="0"/>
              <a:t> x </a:t>
            </a:r>
            <a:r>
              <a:rPr lang="en-GB" sz="1400" b="0" dirty="0" err="1"/>
              <a:t>NCV</a:t>
            </a:r>
            <a:r>
              <a:rPr lang="en-GB" sz="1400" b="0" baseline="-25000" dirty="0" err="1"/>
              <a:t>meas</a:t>
            </a:r>
            <a:r>
              <a:rPr lang="en-GB" sz="1400" b="0" dirty="0"/>
              <a:t> / </a:t>
            </a:r>
            <a:r>
              <a:rPr lang="en-GB" sz="1400" b="0" dirty="0" err="1"/>
              <a:t>NVC</a:t>
            </a:r>
            <a:r>
              <a:rPr lang="en-GB" sz="1400" b="0" baseline="-25000" dirty="0" err="1"/>
              <a:t>std</a:t>
            </a:r>
            <a:endParaRPr lang="de-AT" sz="1400" b="0" dirty="0"/>
          </a:p>
          <a:p>
            <a:pPr algn="l"/>
            <a:r>
              <a:rPr lang="en-GB" sz="1400" b="0" dirty="0"/>
              <a:t>7.3.	</a:t>
            </a:r>
            <a:r>
              <a:rPr lang="en-GB" sz="1400" b="0" dirty="0" err="1"/>
              <a:t>FC</a:t>
            </a:r>
            <a:r>
              <a:rPr lang="en-GB" sz="1400" b="0" baseline="-25000" dirty="0" err="1"/>
              <a:t>measured,map</a:t>
            </a:r>
            <a:r>
              <a:rPr lang="en-GB" sz="1400" b="0" dirty="0"/>
              <a:t> shall be the FC value in the FC map input data processed in accordance with point (3)</a:t>
            </a:r>
            <a:endParaRPr lang="de-AT" sz="1400" b="0" dirty="0"/>
          </a:p>
          <a:p>
            <a:pPr algn="l"/>
            <a:r>
              <a:rPr lang="en-GB" sz="1400" b="0" dirty="0"/>
              <a:t>7.4.	</a:t>
            </a:r>
            <a:r>
              <a:rPr lang="en-GB" sz="1400" b="0" dirty="0" err="1"/>
              <a:t>NCV</a:t>
            </a:r>
            <a:r>
              <a:rPr lang="en-GB" sz="1400" b="0" baseline="-25000" dirty="0" err="1"/>
              <a:t>meas</a:t>
            </a:r>
            <a:r>
              <a:rPr lang="en-GB" sz="1400" b="0" dirty="0"/>
              <a:t> and </a:t>
            </a:r>
            <a:r>
              <a:rPr lang="en-GB" sz="1400" b="0" dirty="0" err="1"/>
              <a:t>NVC</a:t>
            </a:r>
            <a:r>
              <a:rPr lang="en-GB" sz="1400" b="0" baseline="-25000" dirty="0" err="1"/>
              <a:t>std</a:t>
            </a:r>
            <a:r>
              <a:rPr lang="en-GB" sz="1400" b="0" dirty="0"/>
              <a:t> shall be defined in accordance with paragraph 5.3.3.1 of this Annex</a:t>
            </a:r>
            <a:endParaRPr lang="de-AT" sz="1400" b="0" dirty="0"/>
          </a:p>
          <a:p>
            <a:pPr algn="l"/>
            <a:r>
              <a:rPr lang="en-GB" sz="1400" b="0" dirty="0"/>
              <a:t>7.5.	In the case that reference fuel of the type B7 (Diesel / CI) in accordance with paragraph 3.2 of </a:t>
            </a:r>
            <a:r>
              <a:rPr lang="en-GB" sz="1400" b="0" dirty="0" smtClean="0"/>
              <a:t>this</a:t>
            </a:r>
            <a:br>
              <a:rPr lang="en-GB" sz="1400" b="0" dirty="0" smtClean="0"/>
            </a:br>
            <a:r>
              <a:rPr lang="en-GB" sz="1400" b="0" dirty="0" smtClean="0"/>
              <a:t>	Annex </a:t>
            </a:r>
            <a:r>
              <a:rPr lang="en-GB" sz="1400" b="0" dirty="0"/>
              <a:t>was used during testing, the correction in accordance with points (7.1) to (7.4) is </a:t>
            </a:r>
            <a:r>
              <a:rPr lang="en-GB" sz="1400" b="0" dirty="0" smtClean="0"/>
              <a:t>not</a:t>
            </a:r>
            <a:br>
              <a:rPr lang="en-GB" sz="1400" b="0" dirty="0" smtClean="0"/>
            </a:br>
            <a:r>
              <a:rPr lang="en-GB" sz="1400" b="0" dirty="0" smtClean="0"/>
              <a:t>	performed</a:t>
            </a:r>
            <a:r>
              <a:rPr lang="en-GB" sz="1400" b="0" dirty="0"/>
              <a:t>.</a:t>
            </a:r>
            <a:endParaRPr lang="de-AT" sz="1400" b="0" dirty="0"/>
          </a:p>
          <a:p>
            <a:pPr algn="l"/>
            <a:r>
              <a:rPr lang="en-GB" sz="1400" b="0" dirty="0"/>
              <a:t>8.	Converting of engine full load and motoring torque values of the actual engine for certification to </a:t>
            </a:r>
            <a:r>
              <a:rPr lang="en-GB" sz="1400" b="0" dirty="0" smtClean="0"/>
              <a:t>a</a:t>
            </a:r>
            <a:br>
              <a:rPr lang="en-GB" sz="1400" b="0" dirty="0" smtClean="0"/>
            </a:br>
            <a:r>
              <a:rPr lang="en-GB" sz="1400" b="0" dirty="0" smtClean="0"/>
              <a:t>	logging </a:t>
            </a:r>
            <a:r>
              <a:rPr lang="en-GB" sz="1400" b="0" dirty="0"/>
              <a:t>frequency of the engine speed of 8 min</a:t>
            </a:r>
            <a:r>
              <a:rPr lang="en-GB" sz="1400" b="0" baseline="30000" dirty="0"/>
              <a:t>-1</a:t>
            </a:r>
            <a:endParaRPr lang="de-AT" sz="1400" b="0" dirty="0"/>
          </a:p>
          <a:p>
            <a:pPr algn="l"/>
            <a:r>
              <a:rPr lang="en-GB" sz="1400" b="0" dirty="0"/>
              <a:t>8.1.	If the average logging frequency of the engine speed of the originally recorded full load curve </a:t>
            </a:r>
            <a:r>
              <a:rPr lang="en-GB" sz="1400" b="0" dirty="0" smtClean="0"/>
              <a:t>is</a:t>
            </a:r>
            <a:br>
              <a:rPr lang="en-GB" sz="1400" b="0" dirty="0" smtClean="0"/>
            </a:br>
            <a:r>
              <a:rPr lang="en-GB" sz="1400" b="0" dirty="0" smtClean="0"/>
              <a:t>	smaller </a:t>
            </a:r>
            <a:r>
              <a:rPr lang="en-GB" sz="1400" b="0" dirty="0"/>
              <a:t>than 6, the conversion is performed by arithmetical averaging over intervals of ± 4 min</a:t>
            </a:r>
            <a:r>
              <a:rPr lang="en-GB" sz="1400" b="0" baseline="30000" dirty="0"/>
              <a:t>-1</a:t>
            </a:r>
            <a:r>
              <a:rPr lang="en-GB" sz="1400" b="0" dirty="0"/>
              <a:t> </a:t>
            </a:r>
            <a:r>
              <a:rPr lang="en-GB" sz="1400" b="0" dirty="0" smtClean="0"/>
              <a:t>of</a:t>
            </a:r>
            <a:br>
              <a:rPr lang="en-GB" sz="1400" b="0" dirty="0" smtClean="0"/>
            </a:br>
            <a:r>
              <a:rPr lang="en-GB" sz="1400" b="0" dirty="0" smtClean="0"/>
              <a:t>	the </a:t>
            </a:r>
            <a:r>
              <a:rPr lang="en-GB" sz="1400" b="0" dirty="0"/>
              <a:t>given </a:t>
            </a:r>
            <a:r>
              <a:rPr lang="en-GB" sz="1400" b="0" dirty="0" err="1"/>
              <a:t>setpoint</a:t>
            </a:r>
            <a:r>
              <a:rPr lang="en-GB" sz="1400" b="0" dirty="0"/>
              <a:t> for the output data based on the full load curve input in originally </a:t>
            </a:r>
            <a:r>
              <a:rPr lang="en-GB" sz="1400" b="0" dirty="0" smtClean="0"/>
              <a:t>recorded</a:t>
            </a:r>
            <a:br>
              <a:rPr lang="en-GB" sz="1400" b="0" dirty="0" smtClean="0"/>
            </a:br>
            <a:r>
              <a:rPr lang="en-GB" sz="1400" b="0" dirty="0" smtClean="0"/>
              <a:t>	resolution</a:t>
            </a:r>
            <a:r>
              <a:rPr lang="en-GB" sz="1400" b="0" dirty="0"/>
              <a:t>. If the average logging frequency of the engine speed of the originally recorded full </a:t>
            </a:r>
            <a:r>
              <a:rPr lang="en-GB" sz="1400" b="0" dirty="0" smtClean="0"/>
              <a:t>load</a:t>
            </a:r>
            <a:br>
              <a:rPr lang="en-GB" sz="1400" b="0" dirty="0" smtClean="0"/>
            </a:br>
            <a:r>
              <a:rPr lang="en-GB" sz="1400" b="0" dirty="0" smtClean="0"/>
              <a:t>	curve </a:t>
            </a:r>
            <a:r>
              <a:rPr lang="en-GB" sz="1400" b="0" dirty="0"/>
              <a:t>is greater than or equal to 6, the conversion is performed by linear interpolation based </a:t>
            </a:r>
            <a:r>
              <a:rPr lang="en-GB" sz="1400" b="0" dirty="0" smtClean="0"/>
              <a:t>on</a:t>
            </a:r>
            <a:br>
              <a:rPr lang="en-GB" sz="1400" b="0" dirty="0" smtClean="0"/>
            </a:br>
            <a:r>
              <a:rPr lang="en-GB" sz="1400" b="0" dirty="0" smtClean="0"/>
              <a:t>	the full </a:t>
            </a:r>
            <a:r>
              <a:rPr lang="en-GB" sz="1400" b="0" dirty="0"/>
              <a:t>load curve input in originally recorded resolution.</a:t>
            </a:r>
            <a:endParaRPr lang="de-AT" sz="1400" b="0" dirty="0"/>
          </a:p>
        </p:txBody>
      </p:sp>
    </p:spTree>
    <p:extLst>
      <p:ext uri="{BB962C8B-B14F-4D97-AF65-F5344CB8AC3E}">
        <p14:creationId xmlns:p14="http://schemas.microsoft.com/office/powerpoint/2010/main" val="1299610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</a:t>
            </a:r>
            <a:r>
              <a:rPr lang="en-US" dirty="0" smtClean="0"/>
              <a:t>E</a:t>
            </a:r>
            <a:r>
              <a:rPr lang="en-US" dirty="0" smtClean="0"/>
              <a:t>valuation algorithms</a:t>
            </a:r>
            <a:br>
              <a:rPr lang="en-US" dirty="0" smtClean="0"/>
            </a:br>
            <a:r>
              <a:rPr lang="en-US" dirty="0" smtClean="0"/>
              <a:t>performed </a:t>
            </a:r>
            <a:r>
              <a:rPr lang="en-US" dirty="0" smtClean="0"/>
              <a:t>(</a:t>
            </a:r>
            <a:r>
              <a:rPr lang="en-US" dirty="0" smtClean="0"/>
              <a:t>p5/5)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0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b="0" dirty="0">
                <a:latin typeface="Helvetica" panose="020B0604020202020204" pitchFamily="34" charset="0"/>
                <a:cs typeface="Helvetica" panose="020B0604020202020204" pitchFamily="34" charset="0"/>
              </a:rPr>
              <a:t>Example of data processing through VECTO Engine for FC map</a:t>
            </a:r>
            <a:endParaRPr lang="de-AT" b="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751330"/>
            <a:ext cx="8554438" cy="3981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407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886700" cy="576000"/>
          </a:xfrm>
        </p:spPr>
        <p:txBody>
          <a:bodyPr anchor="ctr" anchorCtr="0">
            <a:normAutofit/>
          </a:bodyPr>
          <a:lstStyle/>
          <a:p>
            <a:r>
              <a:rPr lang="en-US" dirty="0"/>
              <a:t>VECTO </a:t>
            </a:r>
            <a:r>
              <a:rPr lang="en-US" dirty="0" smtClean="0"/>
              <a:t>Engine </a:t>
            </a:r>
            <a:r>
              <a:rPr lang="en-US" dirty="0"/>
              <a:t>– Further important </a:t>
            </a:r>
            <a:r>
              <a:rPr lang="en-US" dirty="0" smtClean="0"/>
              <a:t>remarks</a:t>
            </a:r>
            <a:endParaRPr lang="en-US" dirty="0"/>
          </a:p>
        </p:txBody>
      </p:sp>
      <p:sp>
        <p:nvSpPr>
          <p:cNvPr id="3" name="Textfeld 2"/>
          <p:cNvSpPr txBox="1"/>
          <p:nvPr/>
        </p:nvSpPr>
        <p:spPr>
          <a:xfrm>
            <a:off x="467544" y="1267200"/>
            <a:ext cx="828092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Messages </a:t>
            </a:r>
            <a:r>
              <a:rPr lang="en-US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displayed</a:t>
            </a:r>
            <a:endParaRPr lang="en-US" b="0" dirty="0">
              <a:latin typeface="Helvetica" panose="020B0604020202020204" pitchFamily="34" charset="0"/>
              <a:ea typeface="Times" panose="02020603060405020304" pitchFamily="18" charset="0"/>
              <a:cs typeface="Helvetica" panose="020B0604020202020204" pitchFamily="34" charset="0"/>
            </a:endParaRP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Clear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explanations for all relevant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errors (ref. to regulation or indication of </a:t>
            </a:r>
            <a:r>
              <a:rPr lang="en-US" sz="1400" b="0" dirty="0" err="1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datapoint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)</a:t>
            </a:r>
            <a:endParaRPr lang="en-US" sz="1400" b="0" dirty="0">
              <a:latin typeface="Helvetica" panose="020B0604020202020204" pitchFamily="34" charset="0"/>
              <a:ea typeface="Times" panose="02020603060405020304" pitchFamily="18" charset="0"/>
              <a:cs typeface="Helvetica" panose="020B0604020202020204" pitchFamily="34" charset="0"/>
            </a:endParaRP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Warnings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vs.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Errors:</a:t>
            </a:r>
          </a:p>
          <a:p>
            <a:pPr marL="1257300" lvl="2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A valid XML results file is only created if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no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errors occur (non-conformity with requirements in regulation)</a:t>
            </a:r>
            <a:endParaRPr lang="en-US" sz="1400" b="0" dirty="0">
              <a:latin typeface="Helvetica" panose="020B0604020202020204" pitchFamily="34" charset="0"/>
              <a:ea typeface="Times" panose="02020603060405020304" pitchFamily="18" charset="0"/>
              <a:cs typeface="Helvetica" panose="020B0604020202020204" pitchFamily="34" charset="0"/>
            </a:endParaRPr>
          </a:p>
          <a:p>
            <a:pPr marL="1257300" lvl="2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Warnings give a hint that something might be wrong with the input data</a:t>
            </a:r>
            <a:b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</a:b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XML result file is valid despite warnings</a:t>
            </a:r>
            <a:b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</a:b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1400" b="0" u="sng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BUT: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 warnings should be investigated together with TAA / technical service</a:t>
            </a:r>
          </a:p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endParaRPr lang="en-US" b="0" dirty="0" smtClean="0">
              <a:latin typeface="Helvetica" panose="020B0604020202020204" pitchFamily="34" charset="0"/>
              <a:ea typeface="Times" panose="02020603060405020304" pitchFamily="18" charset="0"/>
              <a:cs typeface="Helvetica" panose="020B0604020202020204" pitchFamily="34" charset="0"/>
            </a:endParaRPr>
          </a:p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Only </a:t>
            </a:r>
            <a:r>
              <a:rPr lang="en-US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one </a:t>
            </a:r>
            <a:r>
              <a:rPr lang="en-US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single XML </a:t>
            </a:r>
            <a:r>
              <a:rPr lang="en-US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file is created as output</a:t>
            </a:r>
          </a:p>
          <a:p>
            <a:pPr marL="800100" lvl="1" indent="-342900" algn="l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File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already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hashed</a:t>
            </a: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Ready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for use in VECTO vehicle simulation for declaration</a:t>
            </a:r>
            <a:endParaRPr lang="en-US" sz="1400" b="0" dirty="0">
              <a:latin typeface="Helvetica" panose="020B0604020202020204" pitchFamily="34" charset="0"/>
              <a:ea typeface="Times" panose="02020603060405020304" pitchFamily="18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365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 smtClean="0"/>
              <a:t>Contact</a:t>
            </a:r>
            <a:r>
              <a:rPr lang="de-AT" dirty="0" smtClean="0"/>
              <a:t> </a:t>
            </a:r>
            <a:r>
              <a:rPr lang="de-AT" dirty="0" err="1" smtClean="0"/>
              <a:t>data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All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questions, user support and bug reports need to be handled via the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JIRA issue tracking in the </a:t>
            </a:r>
            <a:r>
              <a:rPr lang="en-US" sz="1600" dirty="0" err="1" smtClean="0">
                <a:latin typeface="Helvetica" panose="020B0604020202020204" pitchFamily="34" charset="0"/>
                <a:cs typeface="Helvetica" panose="020B0604020202020204" pitchFamily="34" charset="0"/>
              </a:rPr>
              <a:t>CITnet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service of the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EU-COM: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600" u="sng" dirty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https://</a:t>
            </a:r>
            <a:r>
              <a:rPr lang="en-US" sz="16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webgate.ec.europa.eu/CITnet/jira/projects/VECTO/issues</a:t>
            </a:r>
            <a:endParaRPr lang="en-US" sz="1600" u="sng" dirty="0" smtClean="0">
              <a:solidFill>
                <a:srgbClr val="00B0F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Also future updates of the tool will be released only via this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platform: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4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https</a:t>
            </a:r>
            <a:r>
              <a:rPr lang="en-US" sz="1400" u="sng" dirty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://</a:t>
            </a:r>
            <a:r>
              <a:rPr lang="en-US" sz="14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webgate.ec.europa.eu/CITnet/confluence/display/VECTO/VECTO+Engine+Releases</a:t>
            </a:r>
            <a:endParaRPr lang="en-US" sz="1400" dirty="0" smtClean="0">
              <a:solidFill>
                <a:srgbClr val="00B0F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If you do not already have an account for this service please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contact: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6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JRC-VECTO@ec.europa.eu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 smtClean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056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9050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ctr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de-AT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347</Words>
  <Application>Microsoft Office PowerPoint</Application>
  <PresentationFormat>Bildschirmpräsentation (4:3)</PresentationFormat>
  <Paragraphs>120</Paragraphs>
  <Slides>12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Arial</vt:lpstr>
      <vt:lpstr>Helvetica</vt:lpstr>
      <vt:lpstr>Times</vt:lpstr>
      <vt:lpstr>Verdana</vt:lpstr>
      <vt:lpstr>Wingdings</vt:lpstr>
      <vt:lpstr>Standarddesign</vt:lpstr>
      <vt:lpstr>VECTO Engine  Short documentation and user manual</vt:lpstr>
      <vt:lpstr>VECTO Engine – GUI</vt:lpstr>
      <vt:lpstr>VECTO Engine – Basic features</vt:lpstr>
      <vt:lpstr>VECTO Engine – Input files</vt:lpstr>
      <vt:lpstr>VECTO Engine – Output files</vt:lpstr>
      <vt:lpstr>VECTO Engine – Evaluation algorithms performed (p1/5)</vt:lpstr>
      <vt:lpstr>VECTO Engine – Evaluation algorithms performed (p2/5)</vt:lpstr>
      <vt:lpstr>VECTO Engine – Evaluation algorithms performed (p3/5)</vt:lpstr>
      <vt:lpstr>VECTO Engine – Evaluation algorithms performed (p4/5)</vt:lpstr>
      <vt:lpstr>VECTO Engine – Evaluation algorithms performed (p5/5)</vt:lpstr>
      <vt:lpstr>VECTO Engine – Further important remarks</vt:lpstr>
      <vt:lpstr>Contact data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martinrexeis</dc:creator>
  <cp:lastModifiedBy>Silberholz Gerard</cp:lastModifiedBy>
  <cp:revision>1326</cp:revision>
  <cp:lastPrinted>2011-11-07T19:57:56Z</cp:lastPrinted>
  <dcterms:created xsi:type="dcterms:W3CDTF">2010-01-07T15:28:02Z</dcterms:created>
  <dcterms:modified xsi:type="dcterms:W3CDTF">2018-12-20T13:14:03Z</dcterms:modified>
</cp:coreProperties>
</file>